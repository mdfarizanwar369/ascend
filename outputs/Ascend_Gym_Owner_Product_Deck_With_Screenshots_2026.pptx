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6d6b71a3104f30" /><Relationship Type="http://schemas.openxmlformats.org/officeDocument/2006/relationships/extended-properties" Target="/docProps/app.xml" Id="Rbb325b3469f64c40" /><Relationship Type="http://schemas.openxmlformats.org/officeDocument/2006/relationships/officeDocument" Target="/ppt/presentation.xml" Id="R15b2141317ed42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9e4cf13623425f"/>
  </p:sldMasterIdLst>
  <p:notesMasterIdLst>
    <p:notesMasterId xmlns:r="http://schemas.openxmlformats.org/officeDocument/2006/relationships" r:id="Rfe85f29a92a6460d"/>
  </p:notesMasterIdLst>
  <p:sldIdLst>
    <p:sldId xmlns:r="http://schemas.openxmlformats.org/officeDocument/2006/relationships" id="256" r:id="R8a68f92fed2443a1"/>
    <p:sldId xmlns:r="http://schemas.openxmlformats.org/officeDocument/2006/relationships" id="257" r:id="R4d3d9a388f6d4f15"/>
    <p:sldId xmlns:r="http://schemas.openxmlformats.org/officeDocument/2006/relationships" id="258" r:id="R21847e7c45c7465d"/>
    <p:sldId xmlns:r="http://schemas.openxmlformats.org/officeDocument/2006/relationships" id="259" r:id="Rf93d26e083d04bfc"/>
    <p:sldId xmlns:r="http://schemas.openxmlformats.org/officeDocument/2006/relationships" id="260" r:id="Rdff77e1c5c264347"/>
    <p:sldId xmlns:r="http://schemas.openxmlformats.org/officeDocument/2006/relationships" id="261" r:id="Rc597e3f68f504545"/>
    <p:sldId xmlns:r="http://schemas.openxmlformats.org/officeDocument/2006/relationships" id="262" r:id="R85c9f89f0bc34de2"/>
    <p:sldId xmlns:r="http://schemas.openxmlformats.org/officeDocument/2006/relationships" id="263" r:id="Ra7b3d492acf9405a"/>
    <p:sldId xmlns:r="http://schemas.openxmlformats.org/officeDocument/2006/relationships" id="264" r:id="R34f1ac3c08084678"/>
    <p:sldId xmlns:r="http://schemas.openxmlformats.org/officeDocument/2006/relationships" id="265" r:id="Rabb1b058a0824c7d"/>
    <p:sldId xmlns:r="http://schemas.openxmlformats.org/officeDocument/2006/relationships" id="266" r:id="Rf8fb0fb084294330"/>
    <p:sldId xmlns:r="http://schemas.openxmlformats.org/officeDocument/2006/relationships" id="267" r:id="R6b3a787a3d1d4dd8"/>
    <p:sldId xmlns:r="http://schemas.openxmlformats.org/officeDocument/2006/relationships" id="268" r:id="R9187e90115404a1f"/>
    <p:sldId xmlns:r="http://schemas.openxmlformats.org/officeDocument/2006/relationships" id="269" r:id="Rf6be4cc2d03f4800"/>
    <p:sldId xmlns:r="http://schemas.openxmlformats.org/officeDocument/2006/relationships" id="270" r:id="R41f83a9bc3f346c0"/>
    <p:sldId xmlns:r="http://schemas.openxmlformats.org/officeDocument/2006/relationships" id="271" r:id="R3ecacb3e60574cd2"/>
    <p:sldId xmlns:r="http://schemas.openxmlformats.org/officeDocument/2006/relationships" id="272" r:id="R1bec6ed6e074491d"/>
    <p:sldId xmlns:r="http://schemas.openxmlformats.org/officeDocument/2006/relationships" id="273" r:id="R68385e86257f463d"/>
    <p:sldId xmlns:r="http://schemas.openxmlformats.org/officeDocument/2006/relationships" id="274" r:id="R3b9730b14f5549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4492d205cc4816" /><Relationship Type="http://schemas.openxmlformats.org/officeDocument/2006/relationships/slideMaster" Target="/ppt/slideMasters/slideMaster1.xml" Id="Rb29e4cf13623425f" /><Relationship Type="http://schemas.openxmlformats.org/officeDocument/2006/relationships/notesMaster" Target="/ppt/notesMasters/notesMaster1.xml" Id="Rfe85f29a92a6460d" /><Relationship Type="http://schemas.openxmlformats.org/officeDocument/2006/relationships/presProps" Target="/ppt/presProps.xml" Id="R55faa7b5f6c54fa5" /><Relationship Type="http://schemas.openxmlformats.org/officeDocument/2006/relationships/tableStyles" Target="/ppt/tableStyles.xml" Id="R349ef655c3464c6a" /><Relationship Type="http://schemas.openxmlformats.org/officeDocument/2006/relationships/slide" Target="/ppt/slides/slide1.xml" Id="R8a68f92fed2443a1" /><Relationship Type="http://schemas.openxmlformats.org/officeDocument/2006/relationships/slide" Target="/ppt/slides/slide2.xml" Id="R4d3d9a388f6d4f15" /><Relationship Type="http://schemas.openxmlformats.org/officeDocument/2006/relationships/slide" Target="/ppt/slides/slide3.xml" Id="R21847e7c45c7465d" /><Relationship Type="http://schemas.openxmlformats.org/officeDocument/2006/relationships/slide" Target="/ppt/slides/slide4.xml" Id="Rf93d26e083d04bfc" /><Relationship Type="http://schemas.openxmlformats.org/officeDocument/2006/relationships/slide" Target="/ppt/slides/slide5.xml" Id="Rdff77e1c5c264347" /><Relationship Type="http://schemas.openxmlformats.org/officeDocument/2006/relationships/slide" Target="/ppt/slides/slide6.xml" Id="Rc597e3f68f504545" /><Relationship Type="http://schemas.openxmlformats.org/officeDocument/2006/relationships/slide" Target="/ppt/slides/slide7.xml" Id="R85c9f89f0bc34de2" /><Relationship Type="http://schemas.openxmlformats.org/officeDocument/2006/relationships/slide" Target="/ppt/slides/slide8.xml" Id="Ra7b3d492acf9405a" /><Relationship Type="http://schemas.openxmlformats.org/officeDocument/2006/relationships/slide" Target="/ppt/slides/slide9.xml" Id="R34f1ac3c08084678" /><Relationship Type="http://schemas.openxmlformats.org/officeDocument/2006/relationships/slide" Target="/ppt/slides/slide10.xml" Id="Rabb1b058a0824c7d" /><Relationship Type="http://schemas.openxmlformats.org/officeDocument/2006/relationships/slide" Target="/ppt/slides/slide11.xml" Id="Rf8fb0fb084294330" /><Relationship Type="http://schemas.openxmlformats.org/officeDocument/2006/relationships/slide" Target="/ppt/slides/slide12.xml" Id="R6b3a787a3d1d4dd8" /><Relationship Type="http://schemas.openxmlformats.org/officeDocument/2006/relationships/slide" Target="/ppt/slides/slide13.xml" Id="R9187e90115404a1f" /><Relationship Type="http://schemas.openxmlformats.org/officeDocument/2006/relationships/slide" Target="/ppt/slides/slide14.xml" Id="Rf6be4cc2d03f4800" /><Relationship Type="http://schemas.openxmlformats.org/officeDocument/2006/relationships/slide" Target="/ppt/slides/slide15.xml" Id="R41f83a9bc3f346c0" /><Relationship Type="http://schemas.openxmlformats.org/officeDocument/2006/relationships/slide" Target="/ppt/slides/slide16.xml" Id="R3ecacb3e60574cd2" /><Relationship Type="http://schemas.openxmlformats.org/officeDocument/2006/relationships/slide" Target="/ppt/slides/slide17.xml" Id="R1bec6ed6e074491d" /><Relationship Type="http://schemas.openxmlformats.org/officeDocument/2006/relationships/slide" Target="/ppt/slides/slide18.xml" Id="R68385e86257f463d" /><Relationship Type="http://schemas.openxmlformats.org/officeDocument/2006/relationships/slide" Target="/ppt/slides/slide19.xml" Id="R3b9730b14f55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68b7f3d07740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d73e0c0fda4b3e" /><Relationship Type="http://schemas.openxmlformats.org/officeDocument/2006/relationships/notesMaster" Target="/ppt/notesMasters/notesMaster1.xml" Id="Rb56354b3436346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fc5bc03cd5474a" /><Relationship Type="http://schemas.openxmlformats.org/officeDocument/2006/relationships/notesMaster" Target="/ppt/notesMasters/notesMaster1.xml" Id="R4d6bb3aff07d47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150d5f39bf4798" /><Relationship Type="http://schemas.openxmlformats.org/officeDocument/2006/relationships/notesMaster" Target="/ppt/notesMasters/notesMaster1.xml" Id="R9f7a74f6961841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d0f178f9d4c68" /><Relationship Type="http://schemas.openxmlformats.org/officeDocument/2006/relationships/notesMaster" Target="/ppt/notesMasters/notesMaster1.xml" Id="R7bdfa1e6fb73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be4649571456c" /><Relationship Type="http://schemas.openxmlformats.org/officeDocument/2006/relationships/notesMaster" Target="/ppt/notesMasters/notesMaster1.xml" Id="R64b331e41a844e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7d668ca8534628" /><Relationship Type="http://schemas.openxmlformats.org/officeDocument/2006/relationships/notesMaster" Target="/ppt/notesMasters/notesMaster1.xml" Id="Rb019da4a1b864b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da32a764914bb7" /><Relationship Type="http://schemas.openxmlformats.org/officeDocument/2006/relationships/notesMaster" Target="/ppt/notesMasters/notesMaster1.xml" Id="R52f7c34ed8074c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ecc2a350a947d3" /><Relationship Type="http://schemas.openxmlformats.org/officeDocument/2006/relationships/notesMaster" Target="/ppt/notesMasters/notesMaster1.xml" Id="Rea2b5274f0ee40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5c629a3bee4a5f" /><Relationship Type="http://schemas.openxmlformats.org/officeDocument/2006/relationships/notesMaster" Target="/ppt/notesMasters/notesMaster1.xml" Id="R1e921cf258d14a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3de3a1207a4c10" /><Relationship Type="http://schemas.openxmlformats.org/officeDocument/2006/relationships/notesMaster" Target="/ppt/notesMasters/notesMaster1.xml" Id="R9b751aec2fd647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e3a076170c4ee8" /><Relationship Type="http://schemas.openxmlformats.org/officeDocument/2006/relationships/notesMaster" Target="/ppt/notesMasters/notesMaster1.xml" Id="Rbb658b74e21345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ecef45534243af" /><Relationship Type="http://schemas.openxmlformats.org/officeDocument/2006/relationships/notesMaster" Target="/ppt/notesMasters/notesMaster1.xml" Id="Re51c4171b8f647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4d6c6fb18447eb" /><Relationship Type="http://schemas.openxmlformats.org/officeDocument/2006/relationships/notesMaster" Target="/ppt/notesMasters/notesMaster1.xml" Id="Rcb406b31c6a343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cb4d0df41444a3" /><Relationship Type="http://schemas.openxmlformats.org/officeDocument/2006/relationships/notesMaster" Target="/ppt/notesMasters/notesMaster1.xml" Id="R57b174efb2244c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260fbd088640ff" /><Relationship Type="http://schemas.openxmlformats.org/officeDocument/2006/relationships/notesMaster" Target="/ppt/notesMasters/notesMaster1.xml" Id="R7ca2a6d9d5fc49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08973d5ba04bff" /><Relationship Type="http://schemas.openxmlformats.org/officeDocument/2006/relationships/notesMaster" Target="/ppt/notesMasters/notesMaster1.xml" Id="Rf0016d1b9d684e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5351d634b843cd" /><Relationship Type="http://schemas.openxmlformats.org/officeDocument/2006/relationships/notesMaster" Target="/ppt/notesMasters/notesMaster1.xml" Id="Rc6de6d991fda40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fa234bfc73454b" /><Relationship Type="http://schemas.openxmlformats.org/officeDocument/2006/relationships/notesMaster" Target="/ppt/notesMasters/notesMaster1.xml" Id="Ra816c6af8a7f45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8c484f8efe4587" /><Relationship Type="http://schemas.openxmlformats.org/officeDocument/2006/relationships/notesMaster" Target="/ppt/notesMasters/notesMaster1.xml" Id="Rab694074aed745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631a6c25d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28ce9e0e864f36" /><Relationship Type="http://schemas.openxmlformats.org/officeDocument/2006/relationships/slideLayout" Target="/ppt/slideLayouts/slideLayout1.xml" Id="R3ff00ff67f0643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f00ff67f0643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cf05d94cd4cda" /><Relationship Type="http://schemas.openxmlformats.org/officeDocument/2006/relationships/image" Target="/ppt/media/image.png" Id="R06f90e7297d84a4a" /><Relationship Type="http://schemas.openxmlformats.org/officeDocument/2006/relationships/image" Target="/ppt/media/image.jpeg" Id="Redd68703a1f140e8" /><Relationship Type="http://schemas.openxmlformats.org/officeDocument/2006/relationships/image" Target="/ppt/media/image2.jpeg" Id="R85c899c8d81f4a83" /><Relationship Type="http://schemas.openxmlformats.org/officeDocument/2006/relationships/image" Target="/ppt/media/image3.jpeg" Id="R5831020220a84dc4" /><Relationship Type="http://schemas.openxmlformats.org/officeDocument/2006/relationships/notesSlide" Target="/ppt/notesSlides/notesSlide1.xml" Id="Rb60d6b2af73e49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6eec4e4904dfb" /><Relationship Type="http://schemas.openxmlformats.org/officeDocument/2006/relationships/notesSlide" Target="/ppt/notesSlides/notesSlide2.xml" Id="R1c3669f7d13145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aec94585d40c2" /><Relationship Type="http://schemas.openxmlformats.org/officeDocument/2006/relationships/notesSlide" Target="/ppt/notesSlides/notesSlide3.xml" Id="Rbaa56a6d8d744f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cd3972edd4566" /><Relationship Type="http://schemas.openxmlformats.org/officeDocument/2006/relationships/image" Target="/ppt/media/image4.jpeg" Id="R8eceb399304c4123" /><Relationship Type="http://schemas.openxmlformats.org/officeDocument/2006/relationships/image" Target="/ppt/media/image5.jpeg" Id="R60b03206a35c4b27" /><Relationship Type="http://schemas.openxmlformats.org/officeDocument/2006/relationships/image" Target="/ppt/media/image6.jpeg" Id="R895dd248afec4b5e" /><Relationship Type="http://schemas.openxmlformats.org/officeDocument/2006/relationships/notesSlide" Target="/ppt/notesSlides/notesSlide4.xml" Id="R41a0938e26564c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76125d772476e" /><Relationship Type="http://schemas.openxmlformats.org/officeDocument/2006/relationships/image" Target="/ppt/media/image7.jpeg" Id="R51dcdb31a13b4bec" /><Relationship Type="http://schemas.openxmlformats.org/officeDocument/2006/relationships/image" Target="/ppt/media/image8.jpeg" Id="R82d4f00eb59a45c0" /><Relationship Type="http://schemas.openxmlformats.org/officeDocument/2006/relationships/notesSlide" Target="/ppt/notesSlides/notesSlide5.xml" Id="Rd108aa746ada43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138fee431409b" /><Relationship Type="http://schemas.openxmlformats.org/officeDocument/2006/relationships/image" Target="/ppt/media/image9.jpeg" Id="Rf47bf552ef254433" /><Relationship Type="http://schemas.openxmlformats.org/officeDocument/2006/relationships/image" Target="/ppt/media/image10.jpeg" Id="Rc0422408003445c8" /><Relationship Type="http://schemas.openxmlformats.org/officeDocument/2006/relationships/notesSlide" Target="/ppt/notesSlides/notesSlide6.xml" Id="R63c3d64e2c7d48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1e4f642b94ed0" /><Relationship Type="http://schemas.openxmlformats.org/officeDocument/2006/relationships/image" Target="/ppt/media/image11.jpeg" Id="R0065cbaef0674b33" /><Relationship Type="http://schemas.openxmlformats.org/officeDocument/2006/relationships/notesSlide" Target="/ppt/notesSlides/notesSlide7.xml" Id="Rb4bfe7f0a36d47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bb15f363f453c" /><Relationship Type="http://schemas.openxmlformats.org/officeDocument/2006/relationships/image" Target="/ppt/media/image12.jpeg" Id="R150de40b95364f01" /><Relationship Type="http://schemas.openxmlformats.org/officeDocument/2006/relationships/image" Target="/ppt/media/image13.jpeg" Id="Rf59187a671ad4b83" /><Relationship Type="http://schemas.openxmlformats.org/officeDocument/2006/relationships/notesSlide" Target="/ppt/notesSlides/notesSlide8.xml" Id="R13bb73702e2047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72ed3db204e63" /><Relationship Type="http://schemas.openxmlformats.org/officeDocument/2006/relationships/image" Target="/ppt/media/image14.jpeg" Id="R85980987782d499c" /><Relationship Type="http://schemas.openxmlformats.org/officeDocument/2006/relationships/image" Target="/ppt/media/image15.jpeg" Id="R969ec7eb60cc497f" /><Relationship Type="http://schemas.openxmlformats.org/officeDocument/2006/relationships/notesSlide" Target="/ppt/notesSlides/notesSlide9.xml" Id="R9ab8b86dfda140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f51c11dd149d2" /><Relationship Type="http://schemas.openxmlformats.org/officeDocument/2006/relationships/image" Target="/ppt/media/image16.jpeg" Id="Rfb3c962d90d2427d" /><Relationship Type="http://schemas.openxmlformats.org/officeDocument/2006/relationships/notesSlide" Target="/ppt/notesSlides/notesSlide10.xml" Id="Rd98d4e53a47347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dcf0a4b384e07" /><Relationship Type="http://schemas.openxmlformats.org/officeDocument/2006/relationships/image" Target="/ppt/media/image17.jpeg" Id="R4ca152cb50424c31" /><Relationship Type="http://schemas.openxmlformats.org/officeDocument/2006/relationships/image" Target="/ppt/media/image18.jpeg" Id="R639ee1971b694b6a" /><Relationship Type="http://schemas.openxmlformats.org/officeDocument/2006/relationships/notesSlide" Target="/ppt/notesSlides/notesSlide11.xml" Id="R177583576d494e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e8d5ab2404695" /><Relationship Type="http://schemas.openxmlformats.org/officeDocument/2006/relationships/image" Target="/ppt/media/image19.jpeg" Id="Rbf4851f9841a4a40" /><Relationship Type="http://schemas.openxmlformats.org/officeDocument/2006/relationships/notesSlide" Target="/ppt/notesSlides/notesSlide12.xml" Id="R42331a3de7c046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9719f264c4343" /><Relationship Type="http://schemas.openxmlformats.org/officeDocument/2006/relationships/image" Target="/ppt/media/image20.jpeg" Id="R5e50257dc6ff4630" /><Relationship Type="http://schemas.openxmlformats.org/officeDocument/2006/relationships/image" Target="/ppt/media/image21.jpeg" Id="R7457b7414a414edb" /><Relationship Type="http://schemas.openxmlformats.org/officeDocument/2006/relationships/notesSlide" Target="/ppt/notesSlides/notesSlide13.xml" Id="R60a72720ffc747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1a9cc70154158" /><Relationship Type="http://schemas.openxmlformats.org/officeDocument/2006/relationships/image" Target="/ppt/media/image22.jpeg" Id="Rdebc1c0023094bc6" /><Relationship Type="http://schemas.openxmlformats.org/officeDocument/2006/relationships/notesSlide" Target="/ppt/notesSlides/notesSlide14.xml" Id="R952cc30839194e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b2c8bd07b4c0f" /><Relationship Type="http://schemas.openxmlformats.org/officeDocument/2006/relationships/notesSlide" Target="/ppt/notesSlides/notesSlide15.xml" Id="R8ec0734d08294b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8d63fe43642d1" /><Relationship Type="http://schemas.openxmlformats.org/officeDocument/2006/relationships/image" Target="/ppt/media/image23.jpeg" Id="Rc1b03ec0e3754fd7" /><Relationship Type="http://schemas.openxmlformats.org/officeDocument/2006/relationships/notesSlide" Target="/ppt/notesSlides/notesSlide16.xml" Id="R93e3b5cbd2eb4a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5683228a44be1" /><Relationship Type="http://schemas.openxmlformats.org/officeDocument/2006/relationships/notesSlide" Target="/ppt/notesSlides/notesSlide17.xml" Id="Rd57a56bc3d8441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10cbda57649e6" /><Relationship Type="http://schemas.openxmlformats.org/officeDocument/2006/relationships/notesSlide" Target="/ppt/notesSlides/notesSlide18.xml" Id="Re122d02da21048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e077d3c574076" /><Relationship Type="http://schemas.openxmlformats.org/officeDocument/2006/relationships/image" Target="/ppt/media/image2.png" Id="R4bfdebdd3af2486b" /><Relationship Type="http://schemas.openxmlformats.org/officeDocument/2006/relationships/image" Target="/ppt/media/image24.jpeg" Id="R9297f7e8bea1467b" /><Relationship Type="http://schemas.openxmlformats.org/officeDocument/2006/relationships/image" Target="/ppt/media/image25.jpeg" Id="R87229b1617cf4175" /><Relationship Type="http://schemas.openxmlformats.org/officeDocument/2006/relationships/notesSlide" Target="/ppt/notesSlides/notesSlide19.xml" Id="R6406f022478d4f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F2938-C295-42B5-86FE-D16C2082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F6ED8-29DE-4CF2-B8F0-003C07FA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E588C-3126-481C-AF2A-F0F2717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8E11B-95FD-42B6-803A-86923187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90e7297d84a4a"/>
          <a:stretch xmlns:a="http://schemas.openxmlformats.org/drawingml/2006/main"/>
        </p:blipFill>
        <p:spPr>
          <a:xfrm xmlns:a="http://schemas.openxmlformats.org/drawingml/2006/main">
            <a:off x="666750" y="4381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1B271-C7CD-4F6D-AE38-EB7D785F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8EF4C-C74D-4B86-89A0-E3796445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</a:defRPr>
            </a:pPr>
            <a:r>
              <a:rPr sz="3750" b="1">
                <a:solidFill>
                  <a:srgbClr val="F8FAFC"/>
                </a:solidFill>
              </a:rPr>
              <a:t>The operating system for fitness accountability.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CD6C4-4590-44AA-8D6D-ACB2A5F0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B"/>
                </a:solidFill>
              </a:defRPr>
            </a:pPr>
            <a:r>
              <a:rPr sz="1575" b="0">
                <a:solidFill>
                  <a:srgbClr val="A7ADBB"/>
                </a:solidFill>
              </a:rPr>
              <a:t>A working platform that helps members stay consistent, trainers coach between sessions and owners see the business signals that matter.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B8938-A975-43C6-BBB6-946FA22C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2D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18007-E4BC-416B-A1D5-87E6012C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E6D1"/>
                </a:solidFill>
              </a:defRPr>
            </a:pPr>
            <a:r>
              <a:rPr sz="975" b="1">
                <a:solidFill>
                  <a:srgbClr val="3DE6D1"/>
                </a:solidFill>
              </a:rPr>
              <a:t>Built for members, trainers and gym operators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344D3-F8F9-41AB-ACFA-4B8FDD48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76300"/>
            <a:ext cx="19431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D0E82-186F-4420-8D60-C0259D3E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434" y="981075"/>
            <a:ext cx="560832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68703a1f140e8"/>
          <a:stretch xmlns:a="http://schemas.openxmlformats.org/drawingml/2006/main"/>
        </p:blipFill>
        <p:spPr>
          <a:xfrm xmlns:a="http://schemas.openxmlformats.org/drawingml/2006/main">
            <a:off x="7067550" y="1637306"/>
            <a:ext cx="1752600" cy="3659589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6ECF6-A733-4F78-8AB8-C77AD6EA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8650"/>
            <a:ext cx="19431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BC509-468A-4D45-853F-DFBC81B9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134" y="733425"/>
            <a:ext cx="560832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899c8d81f4a83"/>
          <a:stretch xmlns:a="http://schemas.openxmlformats.org/drawingml/2006/main"/>
        </p:blipFill>
        <p:spPr>
          <a:xfrm xmlns:a="http://schemas.openxmlformats.org/drawingml/2006/main">
            <a:off x="8858250" y="1569944"/>
            <a:ext cx="1752600" cy="3299012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9F2AD-32DA-4311-9304-FF4BDEA7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028700"/>
            <a:ext cx="1657350" cy="4610100"/>
          </a:xfrm>
          <a:prstGeom xmlns:a="http://schemas.openxmlformats.org/drawingml/2006/main" prst="roundRect">
            <a:avLst>
              <a:gd name="adj" fmla="val 19540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2CEA4-794C-45BA-9388-828D7E0E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579" y="1133475"/>
            <a:ext cx="469392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1020220a84dc4"/>
          <a:stretch xmlns:a="http://schemas.openxmlformats.org/drawingml/2006/main"/>
        </p:blipFill>
        <p:spPr>
          <a:xfrm xmlns:a="http://schemas.openxmlformats.org/drawingml/2006/main">
            <a:off x="10610850" y="1965260"/>
            <a:ext cx="1466850" cy="2736980"/>
          </a:xfrm>
          <a:prstGeom xmlns:a="http://schemas.openxmlformats.org/drawingml/2006/main" prst="roundRect">
            <a:avLst>
              <a:gd name="adj" fmla="val 15584"/>
            </a:avLst>
          </a:prstGeom>
        </p:spPr>
      </p:pic>
    </p:spTree>
    <p:extLst>
      <p:ext uri="{BB962C8B-B14F-4D97-AF65-F5344CB8AC3E}">
        <p14:creationId xmlns:p14="http://schemas.microsoft.com/office/powerpoint/2010/main" val="1044819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F4F5D4-F580-4482-AA48-C9B25735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E53A0-E162-4FA9-B3BE-A3595621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D8F12-83B5-444F-BCF7-2CB787CD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DBB17-B436-43CA-94AA-9F1A9155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B1B1-7C42-419D-B4FF-DB8638C1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The gym session is not the hard part.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2A179-505C-4D36-B983-D03442D5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B"/>
                </a:solidFill>
              </a:defRPr>
            </a:pPr>
            <a:r>
              <a:rPr sz="1350" b="0">
                <a:solidFill>
                  <a:srgbClr val="A7ADBB"/>
                </a:solidFill>
              </a:rPr>
              <a:t>The gap happens after the client walks out of the club.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E8BF4-806E-45BD-A393-07F63133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9530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11B"/>
          </a:solidFill>
          <a:ln xmlns:a="http://schemas.openxmlformats.org/drawingml/2006/main" w="13335">
            <a:solidFill>
              <a:srgbClr val="3040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47E54-7034-40F6-A5AC-609CFAD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305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</a:defRPr>
            </a:pPr>
            <a:r>
              <a:rPr sz="2400" b="1">
                <a:solidFill>
                  <a:srgbClr val="F8FAFC"/>
                </a:solidFill>
              </a:rPr>
              <a:t>Results are built during the other 166 hours of the week.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33755-1A83-42C1-A132-E6DA76AF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1695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AA004-0E1F-4492-BDF6-1F85E6C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E6D1"/>
                </a:solidFill>
              </a:defRPr>
            </a:pPr>
            <a:r>
              <a:rPr sz="975" b="1">
                <a:solidFill>
                  <a:srgbClr val="3DE6D1"/>
                </a:solidFill>
              </a:rPr>
              <a:t>THE 166-HOUR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D7FF3-95A5-4D35-858A-F6BD2E57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2EE2C-2F4B-418E-9664-22535083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3886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Members lose momentum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9FC08-237F-4DB2-98CE-C9834474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4792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Nutrition, water, workouts and habits happen away from the trainer.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744BB-41C7-4303-803A-03DC524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7F657-B12A-42FD-ADAD-5737F2CC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3886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Trainers lose 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79CB7-0FDC-4A5B-B991-75C13577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042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By the next session, the important signals are already stale.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18B87-FA12-4C10-B147-586B82D5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B7B21-FAD3-4786-A9BD-1D954981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3886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Owners lose the business picture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0B45D-111D-47AF-8A0D-5C92762A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5292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Retention risk, upgrade potential and trainer activity are hard to see in one place.</a:t>
            </a:r>
          </a:p>
        </p:txBody>
      </p:sp>
    </p:spTree>
    <p:extLst>
      <p:ext uri="{BB962C8B-B14F-4D97-AF65-F5344CB8AC3E}">
        <p14:creationId xmlns:p14="http://schemas.microsoft.com/office/powerpoint/2010/main" val="201937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82263-21EA-4D87-A945-D5BF099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A41A9-8E28-4867-8D68-02A99576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F51AC-2CC3-4505-93E8-3B9EDB6F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04761-E30C-4CD9-BF65-CA668EF1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EC4F3-959C-477D-83F6-35EE3D3F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How Ascend closes the 166-hour gap.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92408-B3F2-4CD5-82A3-240C2E61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419100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0B111B"/>
          </a:solidFill>
          <a:ln xmlns:a="http://schemas.openxmlformats.org/drawingml/2006/main" w="13335">
            <a:solidFill>
              <a:srgbClr val="2B35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D0BDE-95E1-445D-90EA-C145ED0B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38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Traditional coaching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074C2-5DAD-4996-98F3-98619AF1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24150"/>
            <a:ext cx="2476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F6C6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58148-7B13-42F4-859F-75E50DEF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PT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6ADFD-E54C-48CD-BE2F-220913D3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7ADBB"/>
                </a:solidFill>
              </a:defRPr>
            </a:pPr>
            <a:r>
              <a:rPr sz="2250" b="1">
                <a:solidFill>
                  <a:srgbClr val="A7ADBB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6CE0E-75F9-4135-9CA3-443CD7B2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2476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717A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60134-5149-4860-ADE9-8B4C0216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909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7 days with little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07F93-B854-4C47-BEFB-9A5330CA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386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7ADBB"/>
                </a:solidFill>
              </a:defRPr>
            </a:pPr>
            <a:r>
              <a:rPr sz="2250" b="1">
                <a:solidFill>
                  <a:srgbClr val="A7ADBB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081DF-8C0F-4546-920F-BD1FC974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33950"/>
            <a:ext cx="2476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F6C6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0A34D-B9FC-4897-A7CD-750AF3E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95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Next PT 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C2A00-F245-4844-9299-1C6D67C8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24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The coach finds out after the week has already happened.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7E139-B9B9-45F2-9C4B-58A0F37E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57350"/>
            <a:ext cx="495300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102018"/>
          </a:solidFill>
          <a:ln xmlns:a="http://schemas.openxmlformats.org/drawingml/2006/main" w="13335">
            <a:solidFill>
              <a:srgbClr val="3DE6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61353-7755-47B2-B445-0B278F97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Ascend coaching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37F52-7D87-4596-9809-829B13D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F6C6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450C4-B88C-429A-A311-2B646822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PT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AAF4F-F094-4E02-A77C-E1B16F14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3DE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E98D2-0F50-40C6-9A4C-A082D1D3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71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Coach Zoe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5FB06-AF4C-4ECE-B3A9-575E7E28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3DE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FA573-BA09-4119-947B-3D31CDF5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Food Logging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B28A9-1994-4716-8430-C3E113FE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3DE6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D0D90-244B-4549-BB12-1CFA21E9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956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Workout Guidance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B12840-B305-43D1-B3D8-60D8AD45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3DE6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94B70-CB97-4E67-9FB2-174E15A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Hydration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AFDD57-9503-4F4E-A90C-778B58F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5765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3DE6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A6D85-33B7-40FD-9C9F-CC86F770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Progress Tracking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C92E4B-8B74-4BE2-AD39-B7A781A5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3DE6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ABA25F-8C48-439E-9D2F-F4CC5142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43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Trainer Visibility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CE9199-45BA-4529-9712-6613F80A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8155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F6C6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DBDC1D-3812-4F8E-8FBF-456BE1FE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43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Next PT Session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0049DB-519F-4990-9152-E75C4BC8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24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E6D1"/>
                </a:solidFill>
              </a:defRPr>
            </a:pPr>
            <a:r>
              <a:rPr sz="1575" b="1">
                <a:solidFill>
                  <a:srgbClr val="3DE6D1"/>
                </a:solidFill>
              </a:rPr>
              <a:t>Every action between sessions becomes visible to the trainer.</a:t>
            </a:r>
          </a:p>
        </p:txBody>
      </p:sp>
    </p:spTree>
    <p:extLst>
      <p:ext uri="{BB962C8B-B14F-4D97-AF65-F5344CB8AC3E}">
        <p14:creationId xmlns:p14="http://schemas.microsoft.com/office/powerpoint/2010/main" val="640007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98E51-8FA7-4504-89CB-60B65439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1E191-5F6E-470B-9B11-AEB59E3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E79F4-7E33-4F9B-9F34-BB45E97E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08BC2-0ECD-4D25-BE9E-7FD7AF79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4C03C-B01B-4C30-943F-745C1359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Ascend connects the three stakeholders that drive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F586B-B08D-4036-93E6-2CD55977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B"/>
                </a:solidFill>
              </a:defRPr>
            </a:pPr>
            <a:r>
              <a:rPr sz="1350" b="0">
                <a:solidFill>
                  <a:srgbClr val="A7ADBB"/>
                </a:solidFill>
              </a:rPr>
              <a:t>Client action creates trainer visibility. Trainer visibility creates owner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C622B-E2E5-4CCE-A393-65CB104C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209800" cy="4324350"/>
          </a:xfrm>
          <a:prstGeom xmlns:a="http://schemas.openxmlformats.org/drawingml/2006/main" prst="roundRect">
            <a:avLst>
              <a:gd name="adj" fmla="val 14655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C69D7-037A-44A1-9B03-BDF40D1C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1914525"/>
            <a:ext cx="64617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eb399304c4123"/>
          <a:stretch xmlns:a="http://schemas.openxmlformats.org/drawingml/2006/main"/>
        </p:blipFill>
        <p:spPr>
          <a:xfrm xmlns:a="http://schemas.openxmlformats.org/drawingml/2006/main">
            <a:off x="916260" y="1924050"/>
            <a:ext cx="1977479" cy="4095750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D3575-F988-4422-ACCC-D0F5E678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209800" cy="4324350"/>
          </a:xfrm>
          <a:prstGeom xmlns:a="http://schemas.openxmlformats.org/drawingml/2006/main" prst="roundRect">
            <a:avLst>
              <a:gd name="adj" fmla="val 14655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4FDD1-4354-41D1-BED2-62BD5361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662" y="1914525"/>
            <a:ext cx="64617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03206a35c4b27"/>
          <a:stretch xmlns:a="http://schemas.openxmlformats.org/drawingml/2006/main"/>
        </p:blipFill>
        <p:spPr>
          <a:xfrm xmlns:a="http://schemas.openxmlformats.org/drawingml/2006/main">
            <a:off x="4991100" y="2071407"/>
            <a:ext cx="2019300" cy="3801035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C5D80-DA03-4322-BE2C-B29E2A5E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209800" cy="4324350"/>
          </a:xfrm>
          <a:prstGeom xmlns:a="http://schemas.openxmlformats.org/drawingml/2006/main" prst="roundRect">
            <a:avLst>
              <a:gd name="adj" fmla="val 14655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EC8CB-9013-4874-A1E1-B4367D26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312" y="1914525"/>
            <a:ext cx="64617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dd248afec4b5e"/>
          <a:stretch xmlns:a="http://schemas.openxmlformats.org/drawingml/2006/main"/>
        </p:blipFill>
        <p:spPr>
          <a:xfrm xmlns:a="http://schemas.openxmlformats.org/drawingml/2006/main">
            <a:off x="9048750" y="2088030"/>
            <a:ext cx="2019300" cy="3767790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D8886-12C3-4F47-8BE4-91429478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72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E6D1"/>
                </a:solidFill>
              </a:defRPr>
            </a:pPr>
            <a:r>
              <a:rPr sz="1050" b="1">
                <a:solidFill>
                  <a:srgbClr val="3DE6D1"/>
                </a:solidFill>
              </a:rPr>
              <a:t>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4CF6B-DA04-4AC5-B3D4-AB9A0FAF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5CF6"/>
                </a:solidFill>
              </a:defRPr>
            </a:pPr>
            <a:r>
              <a:rPr sz="1050" b="1">
                <a:solidFill>
                  <a:srgbClr val="8B5CF6"/>
                </a:solidFill>
              </a:rPr>
              <a:t>TRAINER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8EDB8-0EF0-4682-A5B2-F9190A2E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172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C65B"/>
                </a:solidFill>
              </a:defRPr>
            </a:pPr>
            <a:r>
              <a:rPr sz="1050" b="1">
                <a:solidFill>
                  <a:srgbClr val="F6C65B"/>
                </a:solidFill>
              </a:rPr>
              <a:t>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5D7CC-25D3-4BC9-9067-41D5DCB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76200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6B57C-E845-4922-B203-33D6826A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81400"/>
            <a:ext cx="76200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6454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0B545D-FB92-453F-B98C-3DA92B50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8273A-2E62-4B75-B827-1B2D8DDC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7CBA9-EE2C-499F-9E66-8534D06E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32945-DEDB-4C4D-BFF6-4CCC368A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32E4B-FF1F-4B12-B93E-BBC77DF4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Members know what to do today before they scroll.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37D5A-6A23-4E87-8AEF-B4839639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381250" cy="4705350"/>
          </a:xfrm>
          <a:prstGeom xmlns:a="http://schemas.openxmlformats.org/drawingml/2006/main" prst="roundRect">
            <a:avLst>
              <a:gd name="adj" fmla="val 13600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75232-3ABC-4346-A8D7-91103A7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1666875"/>
            <a:ext cx="70104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cdb31a13b4bec"/>
          <a:stretch xmlns:a="http://schemas.openxmlformats.org/drawingml/2006/main"/>
        </p:blipFill>
        <p:spPr>
          <a:xfrm xmlns:a="http://schemas.openxmlformats.org/drawingml/2006/main">
            <a:off x="832061" y="1676400"/>
            <a:ext cx="2164928" cy="4476750"/>
          </a:xfrm>
          <a:prstGeom xmlns:a="http://schemas.openxmlformats.org/drawingml/2006/main" prst="roundRect">
            <a:avLst>
              <a:gd name="adj" fmla="val 1043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0F148-D1A0-4A28-8B7C-4BC90D8F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371600"/>
            <a:ext cx="2381250" cy="4705350"/>
          </a:xfrm>
          <a:prstGeom xmlns:a="http://schemas.openxmlformats.org/drawingml/2006/main" prst="roundRect">
            <a:avLst>
              <a:gd name="adj" fmla="val 13600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AF672-35B9-434B-B03C-AAF95229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555" y="1476375"/>
            <a:ext cx="70104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4f00eb59a45c0"/>
          <a:stretch xmlns:a="http://schemas.openxmlformats.org/drawingml/2006/main"/>
        </p:blipFill>
        <p:spPr>
          <a:xfrm xmlns:a="http://schemas.openxmlformats.org/drawingml/2006/main">
            <a:off x="3329360" y="1485900"/>
            <a:ext cx="2161431" cy="4476750"/>
          </a:xfrm>
          <a:prstGeom xmlns:a="http://schemas.openxmlformats.org/drawingml/2006/main" prst="roundRect">
            <a:avLst>
              <a:gd name="adj" fmla="val 1043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CBBE5-A631-4A52-9B8A-FD80E33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4629150" cy="3048000"/>
          </a:xfrm>
          <a:prstGeom xmlns:a="http://schemas.openxmlformats.org/drawingml/2006/main" prst="roundRect">
            <a:avLst>
              <a:gd name="adj" fmla="val 687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5DDB5-EE16-47E3-A17D-FA591CFD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What this solves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98393-A484-434B-8F50-2A95F2F8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4010D-65FC-429A-9455-8CB83F9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3314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Less overwhelm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0E690-164F-45DF-B3D1-C018AF2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86125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The member sees today's task before the full feature set.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962B8-EB5D-41C4-8568-7193A7D6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23890-A02E-4360-A810-DD8C0CD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24300"/>
            <a:ext cx="3314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More consistency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0838A-E4EC-4B57-8951-2AC4B65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81475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Simple progress cards reinforce small daily actions.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59B1E-8E58-4588-8014-D326F600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E7A2C-3D25-413B-AEFA-8760F089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9650"/>
            <a:ext cx="3314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Coach Zoe feels present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6F159-6373-4F74-AAF5-5D208F46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76825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One timely insight, not a wall of AI text.</a:t>
            </a:r>
          </a:p>
        </p:txBody>
      </p:sp>
    </p:spTree>
    <p:extLst>
      <p:ext uri="{BB962C8B-B14F-4D97-AF65-F5344CB8AC3E}">
        <p14:creationId xmlns:p14="http://schemas.microsoft.com/office/powerpoint/2010/main" val="13680492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DB25E-11F4-4035-B2CA-CA3AD3DB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13F45-D59F-416E-9EB5-25CBB296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45AE0-C5F7-4AB6-9E44-9C4BFB9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30D37-9062-48CB-A379-8990903B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A92F3-B549-4947-A7CB-A346628A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Food logging that works in real life.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CA6DC-DF4B-42D3-BC20-EBE0B2D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2209800" cy="4667250"/>
          </a:xfrm>
          <a:prstGeom xmlns:a="http://schemas.openxmlformats.org/drawingml/2006/main" prst="roundRect">
            <a:avLst>
              <a:gd name="adj" fmla="val 14655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32896-BA24-471A-B2D9-9CFF3B58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400175"/>
            <a:ext cx="64617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bf552ef254433"/>
          <a:stretch xmlns:a="http://schemas.openxmlformats.org/drawingml/2006/main"/>
        </p:blipFill>
        <p:spPr>
          <a:xfrm xmlns:a="http://schemas.openxmlformats.org/drawingml/2006/main">
            <a:off x="666750" y="1520784"/>
            <a:ext cx="2019300" cy="4216483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AD606-2A55-4A9E-909A-9AC3EF57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95400"/>
            <a:ext cx="2209800" cy="4667250"/>
          </a:xfrm>
          <a:prstGeom xmlns:a="http://schemas.openxmlformats.org/drawingml/2006/main" prst="roundRect">
            <a:avLst>
              <a:gd name="adj" fmla="val 14655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78100-1E64-4101-800E-096C1941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362" y="1400175"/>
            <a:ext cx="64617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22408003445c8"/>
          <a:stretch xmlns:a="http://schemas.openxmlformats.org/drawingml/2006/main"/>
        </p:blipFill>
        <p:spPr>
          <a:xfrm xmlns:a="http://schemas.openxmlformats.org/drawingml/2006/main">
            <a:off x="2971800" y="1524217"/>
            <a:ext cx="2019300" cy="4209616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5D3C3-CE18-452C-AB8C-21F8039E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00200"/>
            <a:ext cx="4762500" cy="4038600"/>
          </a:xfrm>
          <a:prstGeom xmlns:a="http://schemas.openxmlformats.org/drawingml/2006/main" prst="roundRect">
            <a:avLst>
              <a:gd name="adj" fmla="val 518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617C3-47E1-45D4-BF10-24270A81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ADBB"/>
                </a:solidFill>
              </a:defRPr>
            </a:pPr>
            <a:r>
              <a:rPr sz="1350" b="0">
                <a:solidFill>
                  <a:srgbClr val="A7ADBB"/>
                </a:solidFill>
              </a:rPr>
              <a:t>No perfect photos. No calorie database. Just describe the meal.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673A0-FF28-442D-8B65-D246E8A6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E6D1"/>
                </a:solidFill>
              </a:defRPr>
            </a:pPr>
            <a:r>
              <a:rPr sz="2025" b="1">
                <a:solidFill>
                  <a:srgbClr val="3DE6D1"/>
                </a:solidFill>
              </a:rPr>
              <a:t>Take Photo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2B9CE-8BBE-49AB-BB7B-EB578BDA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1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7ADBB"/>
                </a:solidFill>
              </a:defRPr>
            </a:pPr>
            <a:r>
              <a:rPr sz="1575" b="1">
                <a:solidFill>
                  <a:srgbClr val="A7ADBB"/>
                </a:solidFill>
              </a:rPr>
              <a:t>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7E10D-FEBC-4AA0-8538-09ECEE2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5CF6"/>
                </a:solidFill>
              </a:defRPr>
            </a:pPr>
            <a:r>
              <a:rPr sz="2025" b="1">
                <a:solidFill>
                  <a:srgbClr val="8B5CF6"/>
                </a:solidFill>
              </a:rPr>
              <a:t>Type what you 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41E84-8295-4A0A-8F06-8C7D1EC6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3714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3335">
            <a:solidFill>
              <a:srgbClr val="2B35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130E0-A132-4E9B-8918-9DAE61E2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Chicken rice • Nasi lemak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1CF35-C6E4-458F-BE10-6FEA45C0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ADBB"/>
                </a:solidFill>
              </a:defRPr>
            </a:pPr>
            <a:r>
              <a:rPr sz="1275" b="0">
                <a:solidFill>
                  <a:srgbClr val="A7ADBB"/>
                </a:solidFill>
              </a:rPr>
              <a:t>Protein shake • McChicken meal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4139D-BE72-4338-92C8-7B9A46BC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2 eggs and toast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8131B-F7A7-44BC-B478-C721BDF1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E6D1"/>
                </a:solidFill>
              </a:defRPr>
            </a:pPr>
            <a:r>
              <a:rPr sz="2250" b="1">
                <a:solidFill>
                  <a:srgbClr val="3DE6D1"/>
                </a:solidFill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F25B2-71D8-4A9F-AD02-F379325C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43400"/>
            <a:ext cx="276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3DE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B4DFE-624D-4DBE-B60D-2BBD0756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053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AI analyses the meal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C7A70-0C6E-4A8E-AA42-16644FEB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339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E6D1"/>
                </a:solidFill>
              </a:defRPr>
            </a:pPr>
            <a:r>
              <a:rPr sz="2250" b="1">
                <a:solidFill>
                  <a:srgbClr val="3DE6D1"/>
                </a:solidFill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EB882-B7CD-49B1-AF65-E3FE3AFC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57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Calories  •  Protein  •  Carbs  •  Fat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F90B32-448A-47B2-A933-A64184DF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E6D1"/>
                </a:solidFill>
              </a:defRPr>
            </a:pPr>
            <a:r>
              <a:rPr sz="1725" b="1">
                <a:solidFill>
                  <a:srgbClr val="3DE6D1"/>
                </a:solidFill>
              </a:rPr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671155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8B18C-A755-4E39-B54C-4D91DDA0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C78F4-34A7-4043-9686-63593598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A38C8-ABB9-4A84-957A-37CFA905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791D1-5005-418E-9D13-9118DCFD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AFF25-A1DD-4D92-818B-16A3D4D7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Coach Zoe keeps the member moving between sessions.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B0A08-83BD-41CE-84E4-D19FEF3E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2571750" cy="5086350"/>
          </a:xfrm>
          <a:prstGeom xmlns:a="http://schemas.openxmlformats.org/drawingml/2006/main" prst="roundRect">
            <a:avLst>
              <a:gd name="adj" fmla="val 12593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DC6F4-9A88-46AE-9263-2EE07CC3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400175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5cbaef0674b33"/>
          <a:stretch xmlns:a="http://schemas.openxmlformats.org/drawingml/2006/main"/>
        </p:blipFill>
        <p:spPr>
          <a:xfrm xmlns:a="http://schemas.openxmlformats.org/drawingml/2006/main">
            <a:off x="856134" y="1409700"/>
            <a:ext cx="2345382" cy="485775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066B6-1DEE-4037-BC3F-F6DAD550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676275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E3C6F-C76B-4CDD-BEB6-B95E28F1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Coach Zoe supports the 166 hours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EE355-0A06-4108-8C95-B5B33E06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1567C-EDE6-4FA5-BD2A-990B13BA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5124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Daily coaching insight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67A81-5E71-46D0-98C8-8094D20D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Protein, hydration, recovery, consistency and motivation from existing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B56C6-E942-40BE-B8AC-512B7578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306FE-352F-4B37-8E2D-AB782ABF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5124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Workout planning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FB4F1-F069-455E-B337-AD4524B4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43375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Generate today's workout from goal, time, location and equipment.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6D22A-24F1-4AE3-A5E6-9631282A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87550-B601-442E-845F-647838D5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00600"/>
            <a:ext cx="5124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Workout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5DF89-B46D-4F87-849C-C53E3355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57775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Completed workouts can influence future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560095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1D665-AEAD-42CB-A488-D6318DB6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1B623-B9A5-47D4-8E14-678D4F3C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FBF8B-B0B5-4FC6-9F3E-234A3D29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62C03-9431-4ED4-B04A-388A73A1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D3B6F-94D5-4DC5-8C2C-C427B29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Trainers begin each day with a coaching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19EAE-57CE-4F2F-AF2F-94040D1D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8250"/>
            <a:ext cx="2400300" cy="4857750"/>
          </a:xfrm>
          <a:prstGeom xmlns:a="http://schemas.openxmlformats.org/drawingml/2006/main" prst="roundRect">
            <a:avLst>
              <a:gd name="adj" fmla="val 13492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D3D84-6B69-4E17-B1B6-9C324596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732" y="1343025"/>
            <a:ext cx="70713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de40b95364f01"/>
          <a:stretch xmlns:a="http://schemas.openxmlformats.org/drawingml/2006/main"/>
        </p:blipFill>
        <p:spPr>
          <a:xfrm xmlns:a="http://schemas.openxmlformats.org/drawingml/2006/main">
            <a:off x="914400" y="1587313"/>
            <a:ext cx="2209800" cy="4159624"/>
          </a:xfrm>
          <a:prstGeom xmlns:a="http://schemas.openxmlformats.org/drawingml/2006/main" prst="roundRect">
            <a:avLst>
              <a:gd name="adj" fmla="val 1034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BC2D1-1963-48BF-9262-C2DCC0AF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33500"/>
            <a:ext cx="2400300" cy="4667250"/>
          </a:xfrm>
          <a:prstGeom xmlns:a="http://schemas.openxmlformats.org/drawingml/2006/main" prst="roundRect">
            <a:avLst>
              <a:gd name="adj" fmla="val 13492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674F5-4E3B-455A-83B2-92379EBB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732" y="1438275"/>
            <a:ext cx="70713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187a671ad4b83"/>
          <a:stretch xmlns:a="http://schemas.openxmlformats.org/drawingml/2006/main"/>
        </p:blipFill>
        <p:spPr>
          <a:xfrm xmlns:a="http://schemas.openxmlformats.org/drawingml/2006/main">
            <a:off x="3661596" y="1447800"/>
            <a:ext cx="2049408" cy="4438650"/>
          </a:xfrm>
          <a:prstGeom xmlns:a="http://schemas.openxmlformats.org/drawingml/2006/main" prst="roundRect">
            <a:avLst>
              <a:gd name="adj" fmla="val 1034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2E1B6-23B6-4CAC-88DB-88335DF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05000"/>
            <a:ext cx="3810000" cy="3409950"/>
          </a:xfrm>
          <a:prstGeom xmlns:a="http://schemas.openxmlformats.org/drawingml/2006/main" prst="roundRect">
            <a:avLst>
              <a:gd name="adj" fmla="val 614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6E9B3-B177-4DF7-B751-543152B9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Why trainers care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59240-CA5A-419B-A683-A6900FAB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48BD4-4D72-458A-AE56-33D4E04D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Faster 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79246-6911-46DB-A2C5-5C0C2EFF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480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Premium and Athlete clients surface in one priority list.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C4728-52F6-4449-8095-BEE7BEB2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7107C-0EA0-4C47-8C9C-B4835C04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4810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Clear next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F4903-AF8F-4DA3-BC34-F34560E5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0527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Each card suggests what the coach should do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F8E9C-C1A2-4E79-A008-83207249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3DD28-E7E3-4F77-98C8-D6AA9D61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7200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Weekly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C5DC0-42F8-49D7-AAD9-D888C4A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2917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Trainers can see improving, plateaued and at-risk clients.</a:t>
            </a:r>
          </a:p>
        </p:txBody>
      </p:sp>
    </p:spTree>
    <p:extLst>
      <p:ext uri="{BB962C8B-B14F-4D97-AF65-F5344CB8AC3E}">
        <p14:creationId xmlns:p14="http://schemas.microsoft.com/office/powerpoint/2010/main" val="569167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59077-812C-4C29-B636-FCED234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F62F5-6807-4FD2-AEB4-4B5D2D00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E330E-AF0E-432F-9448-C9471C8D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E7931-1D90-455C-BE3C-0EA0B8BE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9F32C-EBCA-42DA-BA7B-E961A076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Every client check-in starts with evidence, not guesswork.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3D439-A625-46F8-96B1-0EB21CA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2533650" cy="4991100"/>
          </a:xfrm>
          <a:prstGeom xmlns:a="http://schemas.openxmlformats.org/drawingml/2006/main" prst="roundRect">
            <a:avLst>
              <a:gd name="adj" fmla="val 12782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41705-E5F9-45C2-8DB8-D7CF4FB4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21" y="1304925"/>
            <a:ext cx="749808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80987782d499c"/>
          <a:stretch xmlns:a="http://schemas.openxmlformats.org/drawingml/2006/main"/>
        </p:blipFill>
        <p:spPr>
          <a:xfrm xmlns:a="http://schemas.openxmlformats.org/drawingml/2006/main">
            <a:off x="895350" y="1740529"/>
            <a:ext cx="2343150" cy="3910342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57D50-EE97-40AE-8BE1-29FE4209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200150"/>
            <a:ext cx="2533650" cy="4991100"/>
          </a:xfrm>
          <a:prstGeom xmlns:a="http://schemas.openxmlformats.org/drawingml/2006/main" prst="roundRect">
            <a:avLst>
              <a:gd name="adj" fmla="val 12782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3D181-AFEA-4B07-B938-6754AD6F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371" y="1304925"/>
            <a:ext cx="749808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ec7eb60cc497f"/>
          <a:stretch xmlns:a="http://schemas.openxmlformats.org/drawingml/2006/main"/>
        </p:blipFill>
        <p:spPr>
          <a:xfrm xmlns:a="http://schemas.openxmlformats.org/drawingml/2006/main">
            <a:off x="3695700" y="1509671"/>
            <a:ext cx="2343150" cy="4372058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ABD7C-E12B-4544-85B2-08D77841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247650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85766-8F4E-4087-AD56-32213178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A8C"/>
                </a:solidFill>
              </a:defRPr>
            </a:pPr>
            <a:r>
              <a:rPr sz="900" b="1">
                <a:solidFill>
                  <a:srgbClr val="717A8C"/>
                </a:solidFill>
              </a:rPr>
              <a:t>MEAL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6DDDD-C9F5-403B-9576-5370746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6222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E6D1"/>
                </a:solidFill>
              </a:defRPr>
            </a:pPr>
            <a:r>
              <a:rPr sz="2400" b="1">
                <a:solidFill>
                  <a:srgbClr val="3DE6D1"/>
                </a:solidFill>
              </a:rPr>
              <a:t>Latest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2314A-B426-49D9-BACA-24FA63E9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ADBB"/>
                </a:solidFill>
              </a:defRPr>
            </a:pPr>
            <a:r>
              <a:rPr sz="1050" b="0">
                <a:solidFill>
                  <a:srgbClr val="A7ADBB"/>
                </a:solidFill>
              </a:rPr>
              <a:t>Food logs are visible where the coach reviews the client.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A66CF-84C9-48CD-865A-8C1544D8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247650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C4377-984C-469D-89E0-BE61797A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76675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A8C"/>
                </a:solidFill>
              </a:defRPr>
            </a:pPr>
            <a:r>
              <a:rPr sz="900" b="1">
                <a:solidFill>
                  <a:srgbClr val="717A8C"/>
                </a:solidFill>
              </a:rPr>
              <a:t>MISSIONS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C2068-BEE6-47A9-8247-F75D196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814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B5CF6"/>
                </a:solidFill>
              </a:defRPr>
            </a:pPr>
            <a:r>
              <a:rPr sz="2400" b="1">
                <a:solidFill>
                  <a:srgbClr val="8B5CF6"/>
                </a:solidFill>
              </a:rPr>
              <a:t>Assign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5FCC1-4677-442F-A126-2F637CBC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720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ADBB"/>
                </a:solidFill>
              </a:defRPr>
            </a:pPr>
            <a:r>
              <a:rPr sz="1050" b="0">
                <a:solidFill>
                  <a:srgbClr val="A7ADBB"/>
                </a:solidFill>
              </a:rPr>
              <a:t>Simple actions keep the client accountable between sessions.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A4FB0-5D44-498F-9C8B-93A63063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57600"/>
            <a:ext cx="209550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E85FF-01A2-4FCD-A710-F04844D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A8C"/>
                </a:solidFill>
              </a:defRPr>
            </a:pPr>
            <a:r>
              <a:rPr sz="900" b="1">
                <a:solidFill>
                  <a:srgbClr val="717A8C"/>
                </a:solidFill>
              </a:rPr>
              <a:t>NUTRITION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356D0-6354-4455-8EF3-8C9E7955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814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C65B"/>
                </a:solidFill>
              </a:defRPr>
            </a:pPr>
            <a:r>
              <a:rPr sz="2400" b="1">
                <a:solidFill>
                  <a:srgbClr val="F6C65B"/>
                </a:solidFill>
              </a:rPr>
              <a:t>Adjust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1D1DA-D9E1-449F-893D-70AFA2B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ADBB"/>
                </a:solidFill>
              </a:defRPr>
            </a:pPr>
            <a:r>
              <a:rPr sz="1050" b="0">
                <a:solidFill>
                  <a:srgbClr val="A7ADBB"/>
                </a:solidFill>
              </a:rPr>
              <a:t>Trainer can set context without replacing Ascend's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877557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C72495-EC37-4971-9F03-E979C52F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85F5C-EA7F-4435-AEBB-E4CE6513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17759-A60E-4073-A6B2-16AAB16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ED5C4-E3F2-4140-B000-1A589EA9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B14D4-71C8-4A00-BFF1-0AE9CB9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Every week begins with a coaching summary instead of guesswork.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A4FD5-061E-45D8-8741-D81B0AEC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2571750" cy="5086350"/>
          </a:xfrm>
          <a:prstGeom xmlns:a="http://schemas.openxmlformats.org/drawingml/2006/main" prst="roundRect">
            <a:avLst>
              <a:gd name="adj" fmla="val 12593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3A047-53FC-41EF-8CB3-5AAF7C10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209675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c962d90d2427d"/>
          <a:stretch xmlns:a="http://schemas.openxmlformats.org/drawingml/2006/main"/>
        </p:blipFill>
        <p:spPr>
          <a:xfrm xmlns:a="http://schemas.openxmlformats.org/drawingml/2006/main">
            <a:off x="876300" y="1416743"/>
            <a:ext cx="2381250" cy="4462665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CDC33-D981-4622-A6B3-CD14E2D3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62865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89DC2-BC57-4069-A0A8-CCF4A483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A coaching briefing, not an activity dump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5F2BE-0EFC-4D1C-9E11-097F3F73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BA2EA-B10A-4FAF-BF61-ED53F848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Nutrition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06414-4D69-4C36-9FD6-FF4E1362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8137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Meals, calories and protein are grouped by day.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6FA62-A57C-4305-8B7B-FDB1E7D6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044BD-CB8B-46F2-AF93-1CC466D0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Hydration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B87CE-D0B0-4CF8-9CFD-F599D7A7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5767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Water logs become one coaching signal.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63679-F9C0-408E-ADAB-8930F1BA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33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77555-E917-4E0B-9A57-C2F6327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Coach Zoe interventions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D671F-1C24-4DC6-8E48-AC404B34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3397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The trainer sees when Zoe supported the client.</a:t>
            </a:r>
          </a:p>
        </p:txBody>
      </p:sp>
    </p:spTree>
    <p:extLst>
      <p:ext uri="{BB962C8B-B14F-4D97-AF65-F5344CB8AC3E}">
        <p14:creationId xmlns:p14="http://schemas.microsoft.com/office/powerpoint/2010/main" val="1530312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31EA0C-0969-4A91-830F-C435A3AD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4D800-C165-42DA-ADED-FE3E3951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8C039-1CC9-4BB5-AB42-CE60806B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C6741-7E83-4474-B62A-F74DD88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43B06-3A68-450F-9691-2B89D6AD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Premium members receive a coaching experience worth paying for.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5135C-F3E5-4C13-8839-22E55171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2438400" cy="5181600"/>
          </a:xfrm>
          <a:prstGeom xmlns:a="http://schemas.openxmlformats.org/drawingml/2006/main" prst="roundRect">
            <a:avLst>
              <a:gd name="adj" fmla="val 13281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97C73-CDB1-436F-BDBA-AF5706A5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36" y="1133475"/>
            <a:ext cx="719328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152cb50424c31"/>
          <a:stretch xmlns:a="http://schemas.openxmlformats.org/drawingml/2006/main"/>
        </p:blipFill>
        <p:spPr>
          <a:xfrm xmlns:a="http://schemas.openxmlformats.org/drawingml/2006/main">
            <a:off x="742950" y="1488158"/>
            <a:ext cx="2247900" cy="4262684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2376A-B03F-4D63-A1A3-2A4C1A8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2438400" cy="5181600"/>
          </a:xfrm>
          <a:prstGeom xmlns:a="http://schemas.openxmlformats.org/drawingml/2006/main" prst="roundRect">
            <a:avLst>
              <a:gd name="adj" fmla="val 13281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44282-221E-4709-8304-DA7B3610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236" y="1133475"/>
            <a:ext cx="719328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ee1971b694b6a"/>
          <a:stretch xmlns:a="http://schemas.openxmlformats.org/drawingml/2006/main"/>
        </p:blipFill>
        <p:spPr>
          <a:xfrm xmlns:a="http://schemas.openxmlformats.org/drawingml/2006/main">
            <a:off x="3409950" y="1484996"/>
            <a:ext cx="2247900" cy="4269009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1B14D-18BA-4BB9-8DC9-A9AE0C20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40005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8704D-38AD-453C-86E2-FC17E04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Why this matters commercially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DF245-47F2-431D-9C2A-48C745F0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3866F-3246-4116-9690-D1AAF650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670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Higher perceived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08025-81C5-4601-902C-F958F007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2422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Body scans turn Athlete Mode into a premium coaching product.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41BF1-A57C-4E44-8089-227E255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6B81E-FCB9-4F2E-9B1A-952EB354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Better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560F0-51C5-4FCD-B3DF-399CDA28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0052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Trainer can discuss body fat, muscle and nutrition without a data dump.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62DC6-10F6-4A8B-B2EC-10B2AD0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76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E30B4-B662-423A-B0B0-38A5376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196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More retention hooks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E3924-AB7B-4C1F-9DA5-A7862CAE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7682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Progress beyond the scale gives clients a reason to continue.</a:t>
            </a:r>
          </a:p>
        </p:txBody>
      </p:sp>
    </p:spTree>
    <p:extLst>
      <p:ext uri="{BB962C8B-B14F-4D97-AF65-F5344CB8AC3E}">
        <p14:creationId xmlns:p14="http://schemas.microsoft.com/office/powerpoint/2010/main" val="773273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01C6C-3AD6-40FE-9C64-D1C1023B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E8AE8-61E8-4829-8D4C-1564C40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B5558-8ADA-4C18-BF52-4A1EA6FE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07635-9FE1-4ED3-AC51-3431E72E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C36C3-3DD3-4C67-B52B-5D2C51B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Progress beyond the scale gives clients a reason to stay.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18B1B-8234-43D8-B1CF-7DD65856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2667000" cy="5276850"/>
          </a:xfrm>
          <a:prstGeom xmlns:a="http://schemas.openxmlformats.org/drawingml/2006/main" prst="roundRect">
            <a:avLst>
              <a:gd name="adj" fmla="val 12143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66B6B-29FA-4F71-9C3A-59A6955A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" y="1095375"/>
            <a:ext cx="79248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851f9841a4a40"/>
          <a:stretch xmlns:a="http://schemas.openxmlformats.org/drawingml/2006/main"/>
        </p:blipFill>
        <p:spPr>
          <a:xfrm xmlns:a="http://schemas.openxmlformats.org/drawingml/2006/main">
            <a:off x="876300" y="1393538"/>
            <a:ext cx="2476500" cy="4470973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F545F-5775-455B-8D58-E1B1656D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59055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38282-F3DF-4C9F-A8B0-FD101FD6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52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What the coach can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AF7A3-2202-4C40-B3A8-24A13024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770B0-B32F-4E82-8229-5B1C2FB4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407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Current vs previous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1AC56-C355-4B01-B8AE-6D1673BD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289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Weight, body fat, muscle and score changes are easy to compare.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3DA6D-D3DF-4F7B-AB76-93458D27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81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B8D97-E4B9-49C7-A2FA-B6ABAA50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24300"/>
            <a:ext cx="407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Source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98044-C50B-4995-8538-2A0DE6CC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814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The scan photo stays attached so reviews feel credible.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917FC-00B0-4673-B088-6AED5614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33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A2FCE-A27C-4B99-883C-B7576F14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407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Nutrition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A39E8-88B7-4F8A-BD34-D0179A40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339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B"/>
                </a:solidFill>
              </a:defRPr>
            </a:pPr>
            <a:r>
              <a:rPr sz="1125" b="0">
                <a:solidFill>
                  <a:srgbClr val="A7ADBB"/>
                </a:solidFill>
              </a:rPr>
              <a:t>Athlete targets can use confirmed scan data without changing normal members.</a:t>
            </a:r>
          </a:p>
        </p:txBody>
      </p:sp>
    </p:spTree>
    <p:extLst>
      <p:ext uri="{BB962C8B-B14F-4D97-AF65-F5344CB8AC3E}">
        <p14:creationId xmlns:p14="http://schemas.microsoft.com/office/powerpoint/2010/main" val="18361286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6E103-52B0-47BE-9315-806367EE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51E84-0CF7-4B6F-AB4C-9233C799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C5FBF-40B0-4520-8C9E-52F8E9E2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4DE08-DE2F-480B-BA7A-7615ED7D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B616F-BEB7-4984-9C75-885837F9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Owners see the business levers that deserve attention.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60C89-D4A3-48B6-8EEA-5CC06052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2457450" cy="4991100"/>
          </a:xfrm>
          <a:prstGeom xmlns:a="http://schemas.openxmlformats.org/drawingml/2006/main" prst="roundRect">
            <a:avLst>
              <a:gd name="adj" fmla="val 13178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8B0C1-0201-48B1-9212-948AA43E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963" y="1247775"/>
            <a:ext cx="725424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0257dc6ff4630"/>
          <a:stretch xmlns:a="http://schemas.openxmlformats.org/drawingml/2006/main"/>
        </p:blipFill>
        <p:spPr>
          <a:xfrm xmlns:a="http://schemas.openxmlformats.org/drawingml/2006/main">
            <a:off x="838200" y="1523611"/>
            <a:ext cx="2266950" cy="4229878"/>
          </a:xfrm>
          <a:prstGeom xmlns:a="http://schemas.openxmlformats.org/drawingml/2006/main" prst="roundRect">
            <a:avLst>
              <a:gd name="adj" fmla="val 1008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7C88F-1A4B-4B78-A4A0-5887583A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362075"/>
            <a:ext cx="4572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A0E16"/>
          </a:solidFill>
          <a:ln xmlns:a="http://schemas.openxmlformats.org/drawingml/2006/main" w="13335">
            <a:solidFill>
              <a:srgbClr val="2B35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7b7414a414edb"/>
          <a:srcRect xmlns:a="http://schemas.openxmlformats.org/drawingml/2006/main" l="1289" t="0" r="12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1409700"/>
            <a:ext cx="4476750" cy="4476750"/>
          </a:xfrm>
          <a:prstGeom xmlns:a="http://schemas.openxmlformats.org/drawingml/2006/main" prst="roundRect">
            <a:avLst>
              <a:gd name="adj" fmla="val 297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72CEA-8BF1-47FF-BABB-7CBD4E33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190750" cy="285750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98E40-4CC6-436E-BE27-8BA9B043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CEO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D161C-5A36-43F4-B9D8-A85D9FEC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Revenue opportunities. Retention watchlist. Trainer performance. Members needing attention. Growth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45322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DE4047-8E5E-4FE6-8374-8F121ABA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31E59-6E94-469C-82A1-E1C5E152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CC0C5-D2EF-40AA-A0A8-DE81B533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6ACD6-4D19-4730-B4E2-1D5E790C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6A9D5-D926-45BB-9D22-30E30C29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The owner dashboard should drive action, not report trivia.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8C2F8-64A0-4288-9A09-1FB3714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2428875" cy="51625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D9B79-490E-47FB-B2E6-3307E98C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98" y="1114425"/>
            <a:ext cx="71628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c1c0023094bc6"/>
          <a:stretch xmlns:a="http://schemas.openxmlformats.org/drawingml/2006/main"/>
        </p:blipFill>
        <p:spPr>
          <a:xfrm xmlns:a="http://schemas.openxmlformats.org/drawingml/2006/main">
            <a:off x="781050" y="1576073"/>
            <a:ext cx="2238375" cy="4029705"/>
          </a:xfrm>
          <a:prstGeom xmlns:a="http://schemas.openxmlformats.org/drawingml/2006/main" prst="roundRect">
            <a:avLst>
              <a:gd name="adj" fmla="val 1021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3517E-3B55-4480-99FF-D5060BD6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7239000" cy="3829050"/>
          </a:xfrm>
          <a:prstGeom xmlns:a="http://schemas.openxmlformats.org/drawingml/2006/main" prst="roundRect">
            <a:avLst>
              <a:gd name="adj" fmla="val 5473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AB447-DB3C-4B27-AFD2-BFBFE5AD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76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</a:defRPr>
            </a:pPr>
            <a:r>
              <a:rPr sz="2325" b="1">
                <a:solidFill>
                  <a:srgbClr val="F8FAFC"/>
                </a:solidFill>
              </a:rPr>
              <a:t>Trainer Engagement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AF42B-3A65-4D0A-8D37-A6E43BE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00025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D582F-242A-4E78-A41B-F78AF604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03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A8C"/>
                </a:solidFill>
              </a:defRPr>
            </a:pPr>
            <a:r>
              <a:rPr sz="900" b="1">
                <a:solidFill>
                  <a:srgbClr val="717A8C"/>
                </a:solidFill>
              </a:rPr>
              <a:t>CLIENTS CONTACTED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8B0A9-8439-4106-98F3-650CA83C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0517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E6D1"/>
                </a:solidFill>
              </a:defRPr>
            </a:pPr>
            <a:r>
              <a:rPr sz="2400" b="1">
                <a:solidFill>
                  <a:srgbClr val="3DE6D1"/>
                </a:solidFill>
              </a:rPr>
              <a:t>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7C8C3-AE2A-411A-A26D-AD64325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ADBB"/>
                </a:solidFill>
              </a:defRPr>
            </a:pPr>
            <a:r>
              <a:rPr sz="1050" b="0">
                <a:solidFill>
                  <a:srgbClr val="A7ADBB"/>
                </a:solidFill>
              </a:rPr>
              <a:t>This week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15020-1E31-44D4-8F27-A73CD405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200025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25123-C108-4278-B05D-2F8902A5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03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A8C"/>
                </a:solidFill>
              </a:defRPr>
            </a:pPr>
            <a:r>
              <a:rPr sz="900" b="1">
                <a:solidFill>
                  <a:srgbClr val="717A8C"/>
                </a:solidFill>
              </a:rPr>
              <a:t>WEEKLY REVIEWS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883D8-1D51-4B29-9159-7E33C509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0517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B5CF6"/>
                </a:solidFill>
              </a:defRPr>
            </a:pPr>
            <a:r>
              <a:rPr sz="2400" b="1">
                <a:solidFill>
                  <a:srgbClr val="8B5CF6"/>
                </a:solidFill>
              </a:rPr>
              <a:t>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8E4A2-89F3-4406-A332-633D5B4E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ADBB"/>
                </a:solidFill>
              </a:defRPr>
            </a:pPr>
            <a:r>
              <a:rPr sz="1050" b="0">
                <a:solidFill>
                  <a:srgbClr val="A7ADBB"/>
                </a:solidFill>
              </a:rPr>
              <a:t>Completed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1A1E2-A700-4B4F-96B5-3A2706AE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00025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08BBB-95D2-4796-8363-1A395996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A8C"/>
                </a:solidFill>
              </a:defRPr>
            </a:pPr>
            <a:r>
              <a:rPr sz="900" b="1">
                <a:solidFill>
                  <a:srgbClr val="717A8C"/>
                </a:solidFill>
              </a:rPr>
              <a:t>FOLLOW-UPS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88ADC-DFAF-4A30-A97C-038DC0A8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0517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C65B"/>
                </a:solidFill>
              </a:defRPr>
            </a:pPr>
            <a:r>
              <a:rPr sz="2400" b="1">
                <a:solidFill>
                  <a:srgbClr val="F6C65B"/>
                </a:solidFill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33983-C10E-4D39-BD73-3CBF2DB2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957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ADBB"/>
                </a:solidFill>
              </a:defRPr>
            </a:pPr>
            <a:r>
              <a:rPr sz="1050" b="0">
                <a:solidFill>
                  <a:srgbClr val="A7ADBB"/>
                </a:solidFill>
              </a:rPr>
              <a:t>Outstanding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24842-3C92-4822-9B13-E3D7F1A5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958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Owners care about whether trainers are creating accountability, not internal system metrics.</a:t>
            </a:r>
          </a:p>
        </p:txBody>
      </p:sp>
    </p:spTree>
    <p:extLst>
      <p:ext uri="{BB962C8B-B14F-4D97-AF65-F5344CB8AC3E}">
        <p14:creationId xmlns:p14="http://schemas.microsoft.com/office/powerpoint/2010/main" val="17046878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FD52E5-60A0-4B8C-9220-CFCCFAE8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E3190-1040-45C8-8209-6B745FE6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7E82B-A639-406A-86AC-FD584596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38036-AC80-4D31-BA11-9D90F9B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6F869-0EDA-4588-8466-B935E9A1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The product is broad enough for a real pilot.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95BA8-E500-471B-9A6D-F01573DF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B"/>
                </a:solidFill>
              </a:defRPr>
            </a:pPr>
            <a:r>
              <a:rPr sz="1350" b="0">
                <a:solidFill>
                  <a:srgbClr val="A7ADBB"/>
                </a:solidFill>
              </a:rPr>
              <a:t>The question is no longer whether it can be built. It is whether members and trainers use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222D3-28B5-4D01-8BB6-A3FD7CD3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31242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8C5BE-FCCC-4CBF-94B5-A82349CA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E6D1"/>
                </a:solidFill>
              </a:defRPr>
            </a:pPr>
            <a:r>
              <a:rPr sz="1800" b="1">
                <a:solidFill>
                  <a:srgbClr val="3DE6D1"/>
                </a:solidFill>
              </a:rPr>
              <a:t>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ABAF9-BBFF-41EC-A254-F977CD22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Food, water, workouts, habits, progress, Coach Zoe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20C55-FF4D-40B3-9238-099C6E14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31242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EC94F-4962-4D09-9925-0792B038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</a:defRPr>
            </a:pPr>
            <a:r>
              <a:rPr sz="1800" b="1">
                <a:solidFill>
                  <a:srgbClr val="8B5CF6"/>
                </a:solidFill>
              </a:rPr>
              <a:t>Premium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65156-33B3-44B0-BF52-4F545CE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AI food scans, weekly reports, trainer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CF9B7-F4C0-4DCA-83C7-E1A9C9F3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81200"/>
            <a:ext cx="31242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969D1-E770-456C-83E8-62D96F5F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E6D1"/>
                </a:solidFill>
              </a:defRPr>
            </a:pPr>
            <a:r>
              <a:rPr sz="1800" b="1">
                <a:solidFill>
                  <a:srgbClr val="3DE6D1"/>
                </a:solidFill>
              </a:rPr>
              <a:t>Athlete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16FDC-D2E4-453D-BA58-A8CC0B55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Body Scan, DNA, coach intelligence, scan-powered nutrition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07735-309D-424D-8F92-1D57FDC1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1242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1C294-7C3B-4EE5-A911-6F28338E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</a:defRPr>
            </a:pPr>
            <a:r>
              <a:rPr sz="1800" b="1">
                <a:solidFill>
                  <a:srgbClr val="8B5CF6"/>
                </a:solidFill>
              </a:rPr>
              <a:t>Trainer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99E28-D3C6-43E8-B29C-52F88D6B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Priorities, client profile, coach tools, AI timeline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59414-E4E3-49C2-B110-E1BEFEF9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31242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9A443-67B2-4382-AC47-49AEBC46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67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E6D1"/>
                </a:solidFill>
              </a:defRPr>
            </a:pPr>
            <a:r>
              <a:rPr sz="1800" b="1">
                <a:solidFill>
                  <a:srgbClr val="3DE6D1"/>
                </a:solidFill>
              </a:rPr>
              <a:t>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DA445-D43C-46A6-8045-28D64455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91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Business health, engagement, revenue and opportunities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8D489-7949-46CE-BE18-5096B97B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1242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140358-03BB-4B13-B429-4C9903AC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</a:defRPr>
            </a:pPr>
            <a:r>
              <a:rPr sz="1800" b="1">
                <a:solidFill>
                  <a:srgbClr val="8B5CF6"/>
                </a:solidFill>
              </a:rPr>
              <a:t>Android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12774-DB63-4873-92A8-5D1FA9A2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291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Google Play wrapper, Health Connect activity sync</a:t>
            </a:r>
          </a:p>
        </p:txBody>
      </p:sp>
    </p:spTree>
    <p:extLst>
      <p:ext uri="{BB962C8B-B14F-4D97-AF65-F5344CB8AC3E}">
        <p14:creationId xmlns:p14="http://schemas.microsoft.com/office/powerpoint/2010/main" val="14003997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F03AB-A8F2-44DA-8E93-D1FCA07D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E069D-D0CD-4B3F-AFFA-8AA33085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2CE97-AC79-44B6-9510-6EFE0D10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FDF9E-2A57-4C3A-AF28-1B1E2926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D6477-4966-4954-B8B7-CBBCBA7F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Why a gym owner should care.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72AD6-AA7C-4DED-8B81-C3996FCC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B"/>
                </a:solidFill>
              </a:defRPr>
            </a:pPr>
            <a:r>
              <a:rPr sz="1350" b="0">
                <a:solidFill>
                  <a:srgbClr val="A7ADBB"/>
                </a:solidFill>
              </a:rPr>
              <a:t>Ascend is designed around the business outcomes that matter inside a club.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665A9-EECC-4334-8298-19E5DA0B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6191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29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77993-D4BC-4F14-A827-C42D8B72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06B6D-A7DA-4F47-9793-E4D52EF2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317B6-7E3B-4C75-82AA-9E9CEA6E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288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Earlier intervention before members disengage.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A9544-13F6-44FF-8497-6C76C82A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191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29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9AD86-7599-4B18-8602-655346C7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DF85E-05F9-4436-91FB-26F19E50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Trainer effectiveness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C36BC-2071-4FC1-8FE1-34BF4B5D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Less guessing, better reviews, stronger renewal moments.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855F7-DC39-4A28-BF14-CF195AA3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6191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29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9D436-47BF-4E7C-8820-2D58564C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95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E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A559C-374F-43CC-866B-568CB88E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3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Premium revenue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AC430-8C15-4767-B727-139C59DF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AI coaching, Body Scan and Athlete Mode create paid upgrade paths.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A448D-EBCB-4704-82F1-0E2A9703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6191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131D"/>
          </a:solidFill>
          <a:ln xmlns:a="http://schemas.openxmlformats.org/drawingml/2006/main" w="13335">
            <a:solidFill>
              <a:srgbClr val="29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D00A0-8ECE-4570-9069-AE26DD3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0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DDFE6-3E3D-4B15-9043-2CE75245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Owner visibility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966A4D-7654-4EF2-9617-0EB83CF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The club can see engagement, referrals, AI cost and trainer activity in one place.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CE8B0-590A-4701-9C92-7452B98D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71600"/>
            <a:ext cx="2133600" cy="4514850"/>
          </a:xfrm>
          <a:prstGeom xmlns:a="http://schemas.openxmlformats.org/drawingml/2006/main" prst="roundRect">
            <a:avLst>
              <a:gd name="adj" fmla="val 15179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6EA82C-319B-4477-B743-A9FD6895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504" y="1476375"/>
            <a:ext cx="621792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03ec0e3754fd7"/>
          <a:stretch xmlns:a="http://schemas.openxmlformats.org/drawingml/2006/main"/>
        </p:blipFill>
        <p:spPr>
          <a:xfrm xmlns:a="http://schemas.openxmlformats.org/drawingml/2006/main">
            <a:off x="8324850" y="1800225"/>
            <a:ext cx="1943100" cy="36576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</p:spTree>
    <p:extLst>
      <p:ext uri="{BB962C8B-B14F-4D97-AF65-F5344CB8AC3E}">
        <p14:creationId xmlns:p14="http://schemas.microsoft.com/office/powerpoint/2010/main" val="18445507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E0BDAE-CE2F-4EBC-BF42-F3D71A3F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DDAB3-084F-4A10-9F52-09AD2E87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8EBB5-614B-4374-98B2-AD52F22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CEB0F-8255-44CF-A239-513CF987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E57B7-8C0B-48EE-B8E6-8C00EE29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A pilot should prove usage, not promise miracles.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5180A-4CD1-47CE-A150-C1477963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B"/>
                </a:solidFill>
              </a:defRPr>
            </a:pPr>
            <a:r>
              <a:rPr sz="1350" b="0">
                <a:solidFill>
                  <a:srgbClr val="A7ADBB"/>
                </a:solidFill>
              </a:rPr>
              <a:t>Start small, measure honestly and let the gym decide from real behaviour.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FE9D7-AA25-432E-9C37-D2946EB0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4315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C3463-F4AD-4F69-AB2F-8813325D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E6D1"/>
                </a:solidFill>
              </a:defRPr>
            </a:pPr>
            <a:r>
              <a:rPr sz="3150" b="1">
                <a:solidFill>
                  <a:srgbClr val="3DE6D1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EAC67-02C6-4FEC-ACC4-F2158FC7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1-2 clubs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CA011-556E-4243-86B4-CAD70465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Controlled 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B66D9-11C7-4EE7-AFAF-3F711F97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34315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D15C9-ECBE-49F8-A5E0-A0269FC6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E6D1"/>
                </a:solidFill>
              </a:defRPr>
            </a:pPr>
            <a:r>
              <a:rPr sz="3150" b="1">
                <a:solidFill>
                  <a:srgbClr val="3DE6D1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DA575-BD8E-49F9-9C20-0CF7AF2C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81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Selected trainers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78BCD-8DED-4762-A8B0-DA61BA29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Coaches willing to use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22432-F6AD-4CDD-BCD9-A6D975FA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4315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05565-675F-4960-80B5-013192D4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E6D1"/>
                </a:solidFill>
              </a:defRPr>
            </a:pPr>
            <a:r>
              <a:rPr sz="3150" b="1">
                <a:solidFill>
                  <a:srgbClr val="3DE6D1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A6535-500B-4DD9-A276-83A4633E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Selected members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3CE58-ADC7-499D-BF25-778189E2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Premium and Athlete candidates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FAF0B-D12D-486B-ABB1-4300427B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234315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4AC9E-B222-444E-9390-AEF5768F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E6D1"/>
                </a:solidFill>
              </a:defRPr>
            </a:pPr>
            <a:r>
              <a:rPr sz="3150" b="1">
                <a:solidFill>
                  <a:srgbClr val="3DE6D1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84D87-447E-45A1-B1A7-EF4A3FF8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81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60-90 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93BA0-FB03-4CC6-AD54-266CFCAC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6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B"/>
                </a:solidFill>
              </a:defRPr>
            </a:pPr>
            <a:r>
              <a:rPr sz="1200" b="0">
                <a:solidFill>
                  <a:srgbClr val="A7ADBB"/>
                </a:solidFill>
              </a:rPr>
              <a:t>Enough time to see patterns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2B754-D4BA-4070-AD90-1DB4EE8B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72390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0BDB8-B61B-4B7E-A945-A02DAAD3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Measure active users, food logs, workouts saved, trainer follow-ups, weekly reports, body scans, member feedback, trainer feedback and PT renewal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5140992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020E9-4EFA-4F77-BDFA-E9B557A7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91DA9-68DD-4841-8978-389349AC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D0471-C419-4A54-B893-A04C531F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4BFB1-6FD1-494B-99CB-600E088B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14471-DBFE-463A-8DAF-144BEF85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Ascend doesn't replace coaching. It extends coaching.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A69FA-C556-433D-AF52-7F78B30D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4191000" cy="25717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0B111B"/>
          </a:solidFill>
          <a:ln xmlns:a="http://schemas.openxmlformats.org/drawingml/2006/main" w="13335">
            <a:solidFill>
              <a:srgbClr val="F6C6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BC290-ECC0-4BFD-B92B-1A6BAA21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Trainer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C959F-0F28-4E28-8E2A-A7A859CA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C65B"/>
                </a:solidFill>
              </a:defRPr>
            </a:pPr>
            <a:r>
              <a:rPr sz="2550" b="1">
                <a:solidFill>
                  <a:srgbClr val="F6C65B"/>
                </a:solidFill>
              </a:rPr>
              <a:t>1 hour per week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06945-897A-4C96-ACF7-C834FBF0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B"/>
                </a:solidFill>
              </a:defRPr>
            </a:pPr>
            <a:r>
              <a:rPr sz="1500" b="0">
                <a:solidFill>
                  <a:srgbClr val="A7ADBB"/>
                </a:solidFill>
              </a:rPr>
              <a:t>The gym session starts results.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FCC64-B3A4-4C18-B551-2E53F1AB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191000" cy="25717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102018"/>
          </a:solidFill>
          <a:ln xmlns:a="http://schemas.openxmlformats.org/drawingml/2006/main" w="13335">
            <a:solidFill>
              <a:srgbClr val="3DE6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CBE91-CEF7-4DBF-BE8D-9CDE8180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Ascend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B077E-8DD7-4D1C-AE2A-38C8A154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E6D1"/>
                </a:solidFill>
              </a:defRPr>
            </a:pPr>
            <a:r>
              <a:rPr sz="2550" b="1">
                <a:solidFill>
                  <a:srgbClr val="3DE6D1"/>
                </a:solidFill>
              </a:rPr>
              <a:t>166 hours per week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465C4-9AD4-4CC1-91D0-6C31FE36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14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B"/>
                </a:solidFill>
              </a:defRPr>
            </a:pPr>
            <a:r>
              <a:rPr sz="1500" b="0">
                <a:solidFill>
                  <a:srgbClr val="A7ADBB"/>
                </a:solidFill>
              </a:rPr>
              <a:t>Consistency finishes them.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7D85E-F0E1-445B-96A9-4AE33A82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Members stay accountable. Trainers stay informed. Owners stay in control.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4F2C2-E069-4F27-A75B-00CAA10B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7ADBB"/>
                </a:solidFill>
              </a:defRPr>
            </a:pPr>
            <a:r>
              <a:rPr sz="1725" b="0">
                <a:solidFill>
                  <a:srgbClr val="A7ADBB"/>
                </a:solidFill>
              </a:rPr>
              <a:t>The gym session starts results. Consistency finishes them.</a:t>
            </a:r>
          </a:p>
        </p:txBody>
      </p:sp>
    </p:spTree>
    <p:extLst>
      <p:ext uri="{BB962C8B-B14F-4D97-AF65-F5344CB8AC3E}">
        <p14:creationId xmlns:p14="http://schemas.microsoft.com/office/powerpoint/2010/main" val="12583672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9C2FC7-7AE3-4F66-BE2B-4FC000DD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FBA15-CAF3-4995-8DE9-1511A6B0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15A8B-25A6-414D-9171-0B804E51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61170-32A8-4BF8-A66B-34E4F814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668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debdd3af2486b"/>
          <a:stretch xmlns:a="http://schemas.openxmlformats.org/drawingml/2006/main"/>
        </p:blipFill>
        <p:spPr>
          <a:xfrm xmlns:a="http://schemas.openxmlformats.org/drawingml/2006/main">
            <a:off x="666750" y="4381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34F26-0B01-472C-8D12-9C6B5565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ASCEND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F9CC8-64AF-437E-9B0F-EE945211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</a:defRPr>
            </a:pPr>
            <a:r>
              <a:rPr sz="4050" b="1">
                <a:solidFill>
                  <a:srgbClr val="F8FAFC"/>
                </a:solidFill>
              </a:rPr>
              <a:t>Let's show the live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FE92B-EDCC-4B4A-9190-30C289E4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ADBB"/>
                </a:solidFill>
              </a:defRPr>
            </a:pPr>
            <a:r>
              <a:rPr sz="1800" b="0">
                <a:solidFill>
                  <a:srgbClr val="A7ADBB"/>
                </a:solidFill>
              </a:rPr>
              <a:t>A short walkthrough can show how Ascend supports members, trainers and club operations without replacing the coaching model already inside the gym.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C01CB-EF6B-4AAB-A4A2-B0FF1619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13335">
            <a:solidFill>
              <a:srgbClr val="2733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81A0F-1BB7-4276-B6EC-31F7B0B2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E6D1"/>
                </a:solidFill>
              </a:defRPr>
            </a:pPr>
            <a:r>
              <a:rPr sz="975" b="1">
                <a:solidFill>
                  <a:srgbClr val="3DE6D1"/>
                </a:solidFill>
              </a:rPr>
              <a:t>www.getascend.fit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5B5C2-B98E-4260-A82A-B83B0004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Fariz Anwar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0BAE9-2D0E-4736-9BBE-EDF38CE8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ADBB"/>
                </a:solidFill>
              </a:defRPr>
            </a:pPr>
            <a:r>
              <a:rPr sz="1275" b="0">
                <a:solidFill>
                  <a:srgbClr val="A7ADBB"/>
                </a:solidFill>
              </a:rPr>
              <a:t>Founder / Ascend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29C5B-87D6-427F-AFCA-F6C5EAAB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76300"/>
            <a:ext cx="1943100" cy="4991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FEA87-1F19-455D-91F7-62DFE1B4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734" y="981075"/>
            <a:ext cx="560832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7f7e8bea1467b"/>
          <a:stretch xmlns:a="http://schemas.openxmlformats.org/drawingml/2006/main"/>
        </p:blipFill>
        <p:spPr>
          <a:xfrm xmlns:a="http://schemas.openxmlformats.org/drawingml/2006/main">
            <a:off x="7562850" y="1542056"/>
            <a:ext cx="1752600" cy="3659589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BB85E-5F6B-441B-BAAE-5F5F42D9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66800"/>
            <a:ext cx="1809750" cy="4610100"/>
          </a:xfrm>
          <a:prstGeom xmlns:a="http://schemas.openxmlformats.org/drawingml/2006/main" prst="roundRect">
            <a:avLst>
              <a:gd name="adj" fmla="val 17895"/>
            </a:avLst>
          </a:prstGeom>
          <a:solidFill xmlns:a="http://schemas.openxmlformats.org/drawingml/2006/main">
            <a:srgbClr val="05070C"/>
          </a:solidFill>
          <a:ln xmlns:a="http://schemas.openxmlformats.org/drawingml/2006/main" w="19050">
            <a:solidFill>
              <a:srgbClr val="303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78310-7298-4CF1-BB6F-AC82E9FC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295" y="1171575"/>
            <a:ext cx="51816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8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29b1617cf4175"/>
          <a:stretch xmlns:a="http://schemas.openxmlformats.org/drawingml/2006/main"/>
        </p:blipFill>
        <p:spPr>
          <a:xfrm xmlns:a="http://schemas.openxmlformats.org/drawingml/2006/main">
            <a:off x="9429750" y="1861179"/>
            <a:ext cx="1619250" cy="3021341"/>
          </a:xfrm>
          <a:prstGeom xmlns:a="http://schemas.openxmlformats.org/drawingml/2006/main" prst="roundRect">
            <a:avLst>
              <a:gd name="adj" fmla="val 14118"/>
            </a:avLst>
          </a:prstGeom>
        </p:spPr>
      </p:pic>
    </p:spTree>
    <p:extLst>
      <p:ext uri="{BB962C8B-B14F-4D97-AF65-F5344CB8AC3E}">
        <p14:creationId xmlns:p14="http://schemas.microsoft.com/office/powerpoint/2010/main" val="890538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2026-07-02T23:41:11.6030000Z</dcterms:created>
  <dcterms:modified xsi:type="dcterms:W3CDTF">2026-07-02T23:41:11.6030000Z</dcterms:modified>
</coreProperties>
</file>