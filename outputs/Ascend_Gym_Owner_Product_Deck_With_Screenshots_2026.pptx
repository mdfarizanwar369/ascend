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5eebba3d5f466e" /><Relationship Type="http://schemas.openxmlformats.org/officeDocument/2006/relationships/extended-properties" Target="/docProps/app.xml" Id="R45a9c343547645a3" /><Relationship Type="http://schemas.openxmlformats.org/officeDocument/2006/relationships/officeDocument" Target="/ppt/presentation.xml" Id="R1ebd3f71e07a45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6424d2230d4754"/>
  </p:sldMasterIdLst>
  <p:notesMasterIdLst>
    <p:notesMasterId xmlns:r="http://schemas.openxmlformats.org/officeDocument/2006/relationships" r:id="R88efa5c2d72448ad"/>
  </p:notesMasterIdLst>
  <p:sldIdLst>
    <p:sldId xmlns:r="http://schemas.openxmlformats.org/officeDocument/2006/relationships" id="256" r:id="Re52a8f1dc1bb4e1e"/>
    <p:sldId xmlns:r="http://schemas.openxmlformats.org/officeDocument/2006/relationships" id="257" r:id="Ra8c0e437ba2941d5"/>
    <p:sldId xmlns:r="http://schemas.openxmlformats.org/officeDocument/2006/relationships" id="258" r:id="Reebcdf6d2ced4af1"/>
    <p:sldId xmlns:r="http://schemas.openxmlformats.org/officeDocument/2006/relationships" id="259" r:id="Re3fa5d3a61854123"/>
    <p:sldId xmlns:r="http://schemas.openxmlformats.org/officeDocument/2006/relationships" id="260" r:id="R4a667d08951f44cc"/>
    <p:sldId xmlns:r="http://schemas.openxmlformats.org/officeDocument/2006/relationships" id="261" r:id="R258ec998c5004cf6"/>
    <p:sldId xmlns:r="http://schemas.openxmlformats.org/officeDocument/2006/relationships" id="262" r:id="R9aa42a846f884d15"/>
    <p:sldId xmlns:r="http://schemas.openxmlformats.org/officeDocument/2006/relationships" id="263" r:id="R73b16806571742ae"/>
    <p:sldId xmlns:r="http://schemas.openxmlformats.org/officeDocument/2006/relationships" id="264" r:id="Re6a14df62c19448e"/>
    <p:sldId xmlns:r="http://schemas.openxmlformats.org/officeDocument/2006/relationships" id="265" r:id="R8e92e1c447214175"/>
    <p:sldId xmlns:r="http://schemas.openxmlformats.org/officeDocument/2006/relationships" id="266" r:id="Rc73971032fe34e2e"/>
    <p:sldId xmlns:r="http://schemas.openxmlformats.org/officeDocument/2006/relationships" id="267" r:id="R7d770f6ca85f4e92"/>
    <p:sldId xmlns:r="http://schemas.openxmlformats.org/officeDocument/2006/relationships" id="268" r:id="R1eb7b24d00af40fc"/>
    <p:sldId xmlns:r="http://schemas.openxmlformats.org/officeDocument/2006/relationships" id="269" r:id="Raea495b4a12445fa"/>
    <p:sldId xmlns:r="http://schemas.openxmlformats.org/officeDocument/2006/relationships" id="270" r:id="Rb848e777c57d41fb"/>
    <p:sldId xmlns:r="http://schemas.openxmlformats.org/officeDocument/2006/relationships" id="271" r:id="R82595b372dd1414b"/>
    <p:sldId xmlns:r="http://schemas.openxmlformats.org/officeDocument/2006/relationships" id="272" r:id="R2e4d540047724f87"/>
    <p:sldId xmlns:r="http://schemas.openxmlformats.org/officeDocument/2006/relationships" id="273" r:id="Ra8361bb4926e4d1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b952500c6a43c3" /><Relationship Type="http://schemas.openxmlformats.org/officeDocument/2006/relationships/slideMaster" Target="/ppt/slideMasters/slideMaster1.xml" Id="R7b6424d2230d4754" /><Relationship Type="http://schemas.openxmlformats.org/officeDocument/2006/relationships/notesMaster" Target="/ppt/notesMasters/notesMaster1.xml" Id="R88efa5c2d72448ad" /><Relationship Type="http://schemas.openxmlformats.org/officeDocument/2006/relationships/presProps" Target="/ppt/presProps.xml" Id="R8d7cc29041d04c2a" /><Relationship Type="http://schemas.openxmlformats.org/officeDocument/2006/relationships/tableStyles" Target="/ppt/tableStyles.xml" Id="R9ca04ab5b6b24fea" /><Relationship Type="http://schemas.openxmlformats.org/officeDocument/2006/relationships/slide" Target="/ppt/slides/slide1.xml" Id="Re52a8f1dc1bb4e1e" /><Relationship Type="http://schemas.openxmlformats.org/officeDocument/2006/relationships/slide" Target="/ppt/slides/slide2.xml" Id="Ra8c0e437ba2941d5" /><Relationship Type="http://schemas.openxmlformats.org/officeDocument/2006/relationships/slide" Target="/ppt/slides/slide3.xml" Id="Reebcdf6d2ced4af1" /><Relationship Type="http://schemas.openxmlformats.org/officeDocument/2006/relationships/slide" Target="/ppt/slides/slide4.xml" Id="Re3fa5d3a61854123" /><Relationship Type="http://schemas.openxmlformats.org/officeDocument/2006/relationships/slide" Target="/ppt/slides/slide5.xml" Id="R4a667d08951f44cc" /><Relationship Type="http://schemas.openxmlformats.org/officeDocument/2006/relationships/slide" Target="/ppt/slides/slide6.xml" Id="R258ec998c5004cf6" /><Relationship Type="http://schemas.openxmlformats.org/officeDocument/2006/relationships/slide" Target="/ppt/slides/slide7.xml" Id="R9aa42a846f884d15" /><Relationship Type="http://schemas.openxmlformats.org/officeDocument/2006/relationships/slide" Target="/ppt/slides/slide8.xml" Id="R73b16806571742ae" /><Relationship Type="http://schemas.openxmlformats.org/officeDocument/2006/relationships/slide" Target="/ppt/slides/slide9.xml" Id="Re6a14df62c19448e" /><Relationship Type="http://schemas.openxmlformats.org/officeDocument/2006/relationships/slide" Target="/ppt/slides/slide10.xml" Id="R8e92e1c447214175" /><Relationship Type="http://schemas.openxmlformats.org/officeDocument/2006/relationships/slide" Target="/ppt/slides/slide11.xml" Id="Rc73971032fe34e2e" /><Relationship Type="http://schemas.openxmlformats.org/officeDocument/2006/relationships/slide" Target="/ppt/slides/slide12.xml" Id="R7d770f6ca85f4e92" /><Relationship Type="http://schemas.openxmlformats.org/officeDocument/2006/relationships/slide" Target="/ppt/slides/slide13.xml" Id="R1eb7b24d00af40fc" /><Relationship Type="http://schemas.openxmlformats.org/officeDocument/2006/relationships/slide" Target="/ppt/slides/slide14.xml" Id="Raea495b4a12445fa" /><Relationship Type="http://schemas.openxmlformats.org/officeDocument/2006/relationships/slide" Target="/ppt/slides/slide15.xml" Id="Rb848e777c57d41fb" /><Relationship Type="http://schemas.openxmlformats.org/officeDocument/2006/relationships/slide" Target="/ppt/slides/slide16.xml" Id="R82595b372dd1414b" /><Relationship Type="http://schemas.openxmlformats.org/officeDocument/2006/relationships/slide" Target="/ppt/slides/slide17.xml" Id="R2e4d540047724f87" /><Relationship Type="http://schemas.openxmlformats.org/officeDocument/2006/relationships/slide" Target="/ppt/slides/slide18.xml" Id="Ra8361bb4926e4d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57e50ff8a440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2287595ec04e11" /><Relationship Type="http://schemas.openxmlformats.org/officeDocument/2006/relationships/notesMaster" Target="/ppt/notesMasters/notesMaster1.xml" Id="R97b46becc79a42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0f2c06edd349c1" /><Relationship Type="http://schemas.openxmlformats.org/officeDocument/2006/relationships/notesMaster" Target="/ppt/notesMasters/notesMaster1.xml" Id="R4416899662ee4c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11bce0383b4f83" /><Relationship Type="http://schemas.openxmlformats.org/officeDocument/2006/relationships/notesMaster" Target="/ppt/notesMasters/notesMaster1.xml" Id="R197c7f126fb345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785aeca8094f3f" /><Relationship Type="http://schemas.openxmlformats.org/officeDocument/2006/relationships/notesMaster" Target="/ppt/notesMasters/notesMaster1.xml" Id="Rdd9020c214474d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3a15964d2543d1" /><Relationship Type="http://schemas.openxmlformats.org/officeDocument/2006/relationships/notesMaster" Target="/ppt/notesMasters/notesMaster1.xml" Id="R5e505d7897be48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1cdcaaac2a431d" /><Relationship Type="http://schemas.openxmlformats.org/officeDocument/2006/relationships/notesMaster" Target="/ppt/notesMasters/notesMaster1.xml" Id="Rfc6c514b3ae246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af75cc6bb24eb5" /><Relationship Type="http://schemas.openxmlformats.org/officeDocument/2006/relationships/notesMaster" Target="/ppt/notesMasters/notesMaster1.xml" Id="R9ca410280a874b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12019a16ab4c4e" /><Relationship Type="http://schemas.openxmlformats.org/officeDocument/2006/relationships/notesMaster" Target="/ppt/notesMasters/notesMaster1.xml" Id="R696759e78ef14a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ce4326086e423f" /><Relationship Type="http://schemas.openxmlformats.org/officeDocument/2006/relationships/notesMaster" Target="/ppt/notesMasters/notesMaster1.xml" Id="Rce52ac0bf3224c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3697bdd030449d" /><Relationship Type="http://schemas.openxmlformats.org/officeDocument/2006/relationships/notesMaster" Target="/ppt/notesMasters/notesMaster1.xml" Id="R5d928579190a4d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ae8b926f34457b" /><Relationship Type="http://schemas.openxmlformats.org/officeDocument/2006/relationships/notesMaster" Target="/ppt/notesMasters/notesMaster1.xml" Id="Rba14464465874d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5d29851b1014e3c" /><Relationship Type="http://schemas.openxmlformats.org/officeDocument/2006/relationships/notesMaster" Target="/ppt/notesMasters/notesMaster1.xml" Id="R40b6184a19c544c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84fb91022ec4520" /><Relationship Type="http://schemas.openxmlformats.org/officeDocument/2006/relationships/notesMaster" Target="/ppt/notesMasters/notesMaster1.xml" Id="R0dcf19791cfd42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f6304d886354f6a" /><Relationship Type="http://schemas.openxmlformats.org/officeDocument/2006/relationships/notesMaster" Target="/ppt/notesMasters/notesMaster1.xml" Id="R6171437d03d04a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9347bebcfa24acc" /><Relationship Type="http://schemas.openxmlformats.org/officeDocument/2006/relationships/notesMaster" Target="/ppt/notesMasters/notesMaster1.xml" Id="R090a3dd9a7c84b3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e5f358c0e724bdb" /><Relationship Type="http://schemas.openxmlformats.org/officeDocument/2006/relationships/notesMaster" Target="/ppt/notesMasters/notesMaster1.xml" Id="Ra2308ad39416490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b1a143e9b924bf8" /><Relationship Type="http://schemas.openxmlformats.org/officeDocument/2006/relationships/notesMaster" Target="/ppt/notesMasters/notesMaster1.xml" Id="R03d12558aa2045b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433818d191f4d23" /><Relationship Type="http://schemas.openxmlformats.org/officeDocument/2006/relationships/notesMaster" Target="/ppt/notesMasters/notesMaster1.xml" Id="R051b6d145fd849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9530ac08b244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c8c57b562d4df5" /><Relationship Type="http://schemas.openxmlformats.org/officeDocument/2006/relationships/slideLayout" Target="/ppt/slideLayouts/slideLayout1.xml" Id="Rb7f39154f2564e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f39154f2564e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bc0a34f154d37" /><Relationship Type="http://schemas.openxmlformats.org/officeDocument/2006/relationships/image" Target="/ppt/media/image.png" Id="R18872e3a21de4c2f" /><Relationship Type="http://schemas.openxmlformats.org/officeDocument/2006/relationships/image" Target="/ppt/media/image.jpeg" Id="Redb8f45ef92d451c" /><Relationship Type="http://schemas.openxmlformats.org/officeDocument/2006/relationships/image" Target="/ppt/media/image2.jpeg" Id="R71b94e27384843cf" /><Relationship Type="http://schemas.openxmlformats.org/officeDocument/2006/relationships/image" Target="/ppt/media/image3.jpeg" Id="Rc0effaa5996e4ca7" /><Relationship Type="http://schemas.openxmlformats.org/officeDocument/2006/relationships/notesSlide" Target="/ppt/notesSlides/notesSlide1.xml" Id="R9844f1d6f60a43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cf92f6cb54cf0" /><Relationship Type="http://schemas.openxmlformats.org/officeDocument/2006/relationships/notesSlide" Target="/ppt/notesSlides/notesSlide2.xml" Id="R92f84b3814ac4c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9e64bb8c54299" /><Relationship Type="http://schemas.openxmlformats.org/officeDocument/2006/relationships/notesSlide" Target="/ppt/notesSlides/notesSlide3.xml" Id="Rc6796c7d22674f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ef1270c964d98" /><Relationship Type="http://schemas.openxmlformats.org/officeDocument/2006/relationships/notesSlide" Target="/ppt/notesSlides/notesSlide4.xml" Id="R605986f4bfce45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4917a7bc214cec" /><Relationship Type="http://schemas.openxmlformats.org/officeDocument/2006/relationships/image" Target="/ppt/media/image4.jpeg" Id="Ra704669b52e24be6" /><Relationship Type="http://schemas.openxmlformats.org/officeDocument/2006/relationships/image" Target="/ppt/media/image5.jpeg" Id="Ra21aba9b59444e78" /><Relationship Type="http://schemas.openxmlformats.org/officeDocument/2006/relationships/image" Target="/ppt/media/image6.jpeg" Id="R73a879f4d37940f5" /><Relationship Type="http://schemas.openxmlformats.org/officeDocument/2006/relationships/notesSlide" Target="/ppt/notesSlides/notesSlide5.xml" Id="Rd93b580973dd4d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3f39a091b4a41" /><Relationship Type="http://schemas.openxmlformats.org/officeDocument/2006/relationships/image" Target="/ppt/media/image7.jpeg" Id="R81f378117aba4ef3" /><Relationship Type="http://schemas.openxmlformats.org/officeDocument/2006/relationships/image" Target="/ppt/media/image8.jpeg" Id="Rd3b57c322f014504" /><Relationship Type="http://schemas.openxmlformats.org/officeDocument/2006/relationships/notesSlide" Target="/ppt/notesSlides/notesSlide6.xml" Id="Rfe4d056e78e146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5242b245254bc3" /><Relationship Type="http://schemas.openxmlformats.org/officeDocument/2006/relationships/image" Target="/ppt/media/image9.jpeg" Id="Rdec1fb9b580c47d2" /><Relationship Type="http://schemas.openxmlformats.org/officeDocument/2006/relationships/image" Target="/ppt/media/image10.jpeg" Id="R4ec338d7b6ed41b9" /><Relationship Type="http://schemas.openxmlformats.org/officeDocument/2006/relationships/notesSlide" Target="/ppt/notesSlides/notesSlide7.xml" Id="R8d4917b446da4a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f475fa522f42a5" /><Relationship Type="http://schemas.openxmlformats.org/officeDocument/2006/relationships/image" Target="/ppt/media/image11.jpeg" Id="R5263b6e585364e9c" /><Relationship Type="http://schemas.openxmlformats.org/officeDocument/2006/relationships/notesSlide" Target="/ppt/notesSlides/notesSlide8.xml" Id="Rf4cebc16dfd346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8ed7f1b1247d3" /><Relationship Type="http://schemas.openxmlformats.org/officeDocument/2006/relationships/image" Target="/ppt/media/image12.jpeg" Id="Rbb7e6528b4b94406" /><Relationship Type="http://schemas.openxmlformats.org/officeDocument/2006/relationships/image" Target="/ppt/media/image13.jpeg" Id="Rdee1d8ba8f1743dc" /><Relationship Type="http://schemas.openxmlformats.org/officeDocument/2006/relationships/notesSlide" Target="/ppt/notesSlides/notesSlide9.xml" Id="R99a0369f8bd84ae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ec5f305e04977" /><Relationship Type="http://schemas.openxmlformats.org/officeDocument/2006/relationships/image" Target="/ppt/media/image14.jpeg" Id="R588b15f73d0c4c09" /><Relationship Type="http://schemas.openxmlformats.org/officeDocument/2006/relationships/image" Target="/ppt/media/image15.jpeg" Id="R12bb24beafc847a9" /><Relationship Type="http://schemas.openxmlformats.org/officeDocument/2006/relationships/notesSlide" Target="/ppt/notesSlides/notesSlide10.xml" Id="Rb622636d873043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8c123660c4471" /><Relationship Type="http://schemas.openxmlformats.org/officeDocument/2006/relationships/image" Target="/ppt/media/image16.jpeg" Id="Redc775ac7fc14641" /><Relationship Type="http://schemas.openxmlformats.org/officeDocument/2006/relationships/notesSlide" Target="/ppt/notesSlides/notesSlide11.xml" Id="Rd891eef256c44d0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96ad6dbd64cbd" /><Relationship Type="http://schemas.openxmlformats.org/officeDocument/2006/relationships/image" Target="/ppt/media/image17.jpeg" Id="Ra595f9519cdd4632" /><Relationship Type="http://schemas.openxmlformats.org/officeDocument/2006/relationships/image" Target="/ppt/media/image18.jpeg" Id="R8a2bf31a98e946a7" /><Relationship Type="http://schemas.openxmlformats.org/officeDocument/2006/relationships/notesSlide" Target="/ppt/notesSlides/notesSlide12.xml" Id="R2d6f9164ce6c485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b42bbf55684b25" /><Relationship Type="http://schemas.openxmlformats.org/officeDocument/2006/relationships/image" Target="/ppt/media/image19.jpeg" Id="Rc174033d8bf24ffc" /><Relationship Type="http://schemas.openxmlformats.org/officeDocument/2006/relationships/notesSlide" Target="/ppt/notesSlides/notesSlide13.xml" Id="R1a842fff04354a6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3f42131f74e15" /><Relationship Type="http://schemas.openxmlformats.org/officeDocument/2006/relationships/image" Target="/ppt/media/image20.jpeg" Id="R3af0d62adb8b413b" /><Relationship Type="http://schemas.openxmlformats.org/officeDocument/2006/relationships/image" Target="/ppt/media/image21.jpeg" Id="R5668da2aa7eb44c1" /><Relationship Type="http://schemas.openxmlformats.org/officeDocument/2006/relationships/notesSlide" Target="/ppt/notesSlides/notesSlide14.xml" Id="Rd12171718832428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e64aefadb4214" /><Relationship Type="http://schemas.openxmlformats.org/officeDocument/2006/relationships/image" Target="/ppt/media/image22.jpeg" Id="R39cd5cfffa234ca7" /><Relationship Type="http://schemas.openxmlformats.org/officeDocument/2006/relationships/notesSlide" Target="/ppt/notesSlides/notesSlide15.xml" Id="Rdc3b4df17de74a3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9cdc79ca641c2" /><Relationship Type="http://schemas.openxmlformats.org/officeDocument/2006/relationships/notesSlide" Target="/ppt/notesSlides/notesSlide16.xml" Id="Rf62074cb78e1409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def9d398a14a45" /><Relationship Type="http://schemas.openxmlformats.org/officeDocument/2006/relationships/notesSlide" Target="/ppt/notesSlides/notesSlide17.xml" Id="R51f4c82040c74c9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3b15ce8064f68" /><Relationship Type="http://schemas.openxmlformats.org/officeDocument/2006/relationships/image" Target="/ppt/media/image2.png" Id="Rc9f2613ac6b44fa0" /><Relationship Type="http://schemas.openxmlformats.org/officeDocument/2006/relationships/image" Target="/ppt/media/image23.jpeg" Id="Redc8a7e8d4af4116" /><Relationship Type="http://schemas.openxmlformats.org/officeDocument/2006/relationships/image" Target="/ppt/media/image24.jpeg" Id="Ra89090339f3b41f0" /><Relationship Type="http://schemas.openxmlformats.org/officeDocument/2006/relationships/notesSlide" Target="/ppt/notesSlides/notesSlide18.xml" Id="R7833690e5eb248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965DF5-D05E-4708-B5AA-06F11E8D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7D8E9-050B-43E2-B447-E83C65D2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478A3-ABE5-45A7-A7F6-FEB02571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74B43-63DF-45A7-BB92-E6E92349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72e3a21de4c2f"/>
          <a:stretch xmlns:a="http://schemas.openxmlformats.org/drawingml/2006/main"/>
        </p:blipFill>
        <p:spPr>
          <a:xfrm xmlns:a="http://schemas.openxmlformats.org/drawingml/2006/main">
            <a:off x="666750" y="43815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3E996-14B9-4061-9D98-0DBA24F3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ASCEND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755E0-9C04-4D83-B8A4-395176F5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8FAFC"/>
                </a:solidFill>
              </a:defRPr>
            </a:pPr>
            <a:r>
              <a:rPr sz="3600" b="1">
                <a:solidFill>
                  <a:srgbClr val="F8FAFC"/>
                </a:solidFill>
              </a:rPr>
              <a:t>Your trainers coach members for one hour each week.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67A6F9-24FB-4D3F-BF59-83EEEBD3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DE6D1"/>
                </a:solidFill>
              </a:defRPr>
            </a:pPr>
            <a:r>
              <a:rPr sz="2400" b="1">
                <a:solidFill>
                  <a:srgbClr val="3DE6D1"/>
                </a:solidFill>
              </a:rPr>
              <a:t>Ascend coaches them during the other 166 hours.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35494F-85A0-4D5C-9AC9-E4193D73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3429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1D2D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5F780-7960-4251-9459-9625E044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3DE6D1"/>
                </a:solidFill>
              </a:defRPr>
            </a:pPr>
            <a:r>
              <a:rPr sz="975" b="1">
                <a:solidFill>
                  <a:srgbClr val="3DE6D1"/>
                </a:solidFill>
              </a:rPr>
              <a:t>The operating system for fitness accountability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862F84-C6D4-43E9-97E0-A2A8ABD6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876300"/>
            <a:ext cx="1943100" cy="5181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C7702-8983-4C0A-A298-6AD6D2AB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3434" y="981075"/>
            <a:ext cx="560832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b8f45ef92d451c"/>
          <a:stretch xmlns:a="http://schemas.openxmlformats.org/drawingml/2006/main"/>
        </p:blipFill>
        <p:spPr>
          <a:xfrm xmlns:a="http://schemas.openxmlformats.org/drawingml/2006/main">
            <a:off x="7067550" y="1637306"/>
            <a:ext cx="1752600" cy="3659589"/>
          </a:xfrm>
          <a:prstGeom xmlns:a="http://schemas.openxmlformats.org/drawingml/2006/main" prst="roundRect">
            <a:avLst>
              <a:gd name="adj" fmla="val 1304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6AB237-3831-4E09-94FD-7F5EAB2A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28650"/>
            <a:ext cx="1943100" cy="5181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3DBEE1-4926-4590-B3CF-88A80AD8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134" y="733425"/>
            <a:ext cx="560832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b94e27384843cf"/>
          <a:stretch xmlns:a="http://schemas.openxmlformats.org/drawingml/2006/main"/>
        </p:blipFill>
        <p:spPr>
          <a:xfrm xmlns:a="http://schemas.openxmlformats.org/drawingml/2006/main">
            <a:off x="8858250" y="1569944"/>
            <a:ext cx="1752600" cy="3299012"/>
          </a:xfrm>
          <a:prstGeom xmlns:a="http://schemas.openxmlformats.org/drawingml/2006/main" prst="roundRect">
            <a:avLst>
              <a:gd name="adj" fmla="val 13043"/>
            </a:avLst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890522-8430-4624-9670-46BCEA50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028700"/>
            <a:ext cx="1657350" cy="4610100"/>
          </a:xfrm>
          <a:prstGeom xmlns:a="http://schemas.openxmlformats.org/drawingml/2006/main" prst="roundRect">
            <a:avLst>
              <a:gd name="adj" fmla="val 19540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C8C1DE-51F7-4F14-AF35-5BAC13BF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579" y="1133475"/>
            <a:ext cx="469392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ffaa5996e4ca7"/>
          <a:stretch xmlns:a="http://schemas.openxmlformats.org/drawingml/2006/main"/>
        </p:blipFill>
        <p:spPr>
          <a:xfrm xmlns:a="http://schemas.openxmlformats.org/drawingml/2006/main">
            <a:off x="10610850" y="1965260"/>
            <a:ext cx="1466850" cy="2736980"/>
          </a:xfrm>
          <a:prstGeom xmlns:a="http://schemas.openxmlformats.org/drawingml/2006/main" prst="roundRect">
            <a:avLst>
              <a:gd name="adj" fmla="val 15584"/>
            </a:avLst>
          </a:prstGeom>
        </p:spPr>
      </p:pic>
    </p:spTree>
    <p:extLst>
      <p:ext uri="{BB962C8B-B14F-4D97-AF65-F5344CB8AC3E}">
        <p14:creationId xmlns:p14="http://schemas.microsoft.com/office/powerpoint/2010/main" val="4222555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ADAEA0-AC2F-4F4B-A630-63A83CDB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89947-BC6E-4F00-9AA3-1FDF4F22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6B8449-FAA3-4E01-AAF4-C4494396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26ED0-BF4C-4160-B4C8-72155E00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639D1-A4FD-46E3-9BB7-97671942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The week breaks after the session.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F76A0-CF6E-4B50-A338-9B90E556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953000" cy="2095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111B"/>
          </a:solidFill>
          <a:ln xmlns:a="http://schemas.openxmlformats.org/drawingml/2006/main" w="13335">
            <a:solidFill>
              <a:srgbClr val="3040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3460E5-F44A-4D79-910D-D65917C9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4305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</a:defRPr>
            </a:pPr>
            <a:r>
              <a:rPr sz="2400" b="1">
                <a:solidFill>
                  <a:srgbClr val="F8FAFC"/>
                </a:solidFill>
              </a:rPr>
              <a:t>Results are built during the other 166 hours of the week.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2DFD11-88D1-45B2-8C5B-5796950F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16954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51F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04C966-86E0-417A-AE66-8EEB638A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24275"/>
            <a:ext cx="1695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3DE6D1"/>
                </a:solidFill>
              </a:defRPr>
            </a:pPr>
            <a:r>
              <a:rPr sz="975" b="1">
                <a:solidFill>
                  <a:srgbClr val="3DE6D1"/>
                </a:solidFill>
              </a:rPr>
              <a:t>THE 166-HOUR GAP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12869-1886-4FBE-91C4-65347CED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157DC2-3135-404D-A8CF-D744172B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81250"/>
            <a:ext cx="38862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Members drift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1F38EA-ABD7-43F6-AB8D-515B9195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3842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Habits happen away from the club.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13CC3F-E8FF-4938-9C13-4A0857DF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3674DD-172A-4CB0-B0C4-F43A2A0D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33750"/>
            <a:ext cx="38862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Trainers guess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0C2785-2E2B-4F28-87EB-16A3F180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9092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Signals arrive too late.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89758F-8D6C-4AF3-B5C5-B4851190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43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C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20D975-66DF-4283-8473-C3C29644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86250"/>
            <a:ext cx="38862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Owners react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FBADA7-9CDA-40E7-841D-51A1C854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4342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Retention risk stays hidden.</a:t>
            </a:r>
          </a:p>
        </p:txBody>
      </p:sp>
    </p:spTree>
    <p:extLst>
      <p:ext uri="{BB962C8B-B14F-4D97-AF65-F5344CB8AC3E}">
        <p14:creationId xmlns:p14="http://schemas.microsoft.com/office/powerpoint/2010/main" val="8309424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F210EF-AF22-4F10-939C-E02D80EE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8E66B-0F4F-4854-BDF6-D2F405E6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14C84-28D0-4C30-B333-DC3A8F0C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FC08AB-F886-4C5D-B893-7E1CA2E2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617FC-8770-40D9-B586-E13881FA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How Ascend closes the 166-hour gap.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39CF03-A019-4F70-9AF3-9C42BD40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57350"/>
            <a:ext cx="419100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0B111B"/>
          </a:solidFill>
          <a:ln xmlns:a="http://schemas.openxmlformats.org/drawingml/2006/main" w="13335">
            <a:solidFill>
              <a:srgbClr val="2B35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531FC8-9CE6-4826-BF3E-B8E517C9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383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Traditional coaching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13C0A9-AED0-4960-A3E0-E8E758EF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724150"/>
            <a:ext cx="2476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F6C6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E1876B-1C3C-4DA7-A606-30D21703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88607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PT Session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DE044-71B7-4A26-8931-5B9D32E8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337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A7ADBB"/>
                </a:solidFill>
              </a:defRPr>
            </a:pPr>
            <a:r>
              <a:rPr sz="2250" b="1">
                <a:solidFill>
                  <a:srgbClr val="A7ADBB"/>
                </a:solidFill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C8F18-912D-4FAF-830C-22B300C2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29050"/>
            <a:ext cx="2476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717A8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73137E-63E8-4768-BBB6-E391E1B5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99097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7 days with little visibility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2D7228-A255-43F4-9E39-0D1C0DB0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386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A7ADBB"/>
                </a:solidFill>
              </a:defRPr>
            </a:pPr>
            <a:r>
              <a:rPr sz="2250" b="1">
                <a:solidFill>
                  <a:srgbClr val="A7ADBB"/>
                </a:solidFill>
              </a:rPr>
              <a:t>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F0B050-9B70-4B6F-B131-4720ED79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33950"/>
            <a:ext cx="2476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F6C6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A6D1AD-3C77-4E57-BC42-B300A854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9587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Next PT Session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33D23E-125B-4F29-8859-5F38D15C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245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7ADBB"/>
                </a:solidFill>
              </a:defRPr>
            </a:pPr>
            <a:r>
              <a:rPr sz="1200" b="0">
                <a:solidFill>
                  <a:srgbClr val="A7ADBB"/>
                </a:solidFill>
              </a:rPr>
              <a:t>The coach finds out after the week has already happened.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DEFAFA-1ED4-4F07-A05D-AB7A5A00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57350"/>
            <a:ext cx="495300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102018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8AEF68-4D6B-4251-A3A1-E07E5E6A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383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Ascend coaching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37E3CA-24E8-49E8-B212-08B1511D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09850"/>
            <a:ext cx="1714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F6C6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C8654C-993B-4EA2-8169-65D9C053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PT Session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3D0E09-24F8-40B6-B234-D545D0E7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09850"/>
            <a:ext cx="1714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7E4DC3-9678-4882-84B6-8F7A050F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717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Coach Zoe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0CC3A0-C63E-4E4D-9AC5-98B2A1ED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1714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F0566C-D900-497B-A7AA-21E28CB0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956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Food Logging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8BA165-8B04-45FD-B1F8-7CDB5B9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33750"/>
            <a:ext cx="1714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739757-631F-4FDC-969B-054104B1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956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Workout Guidance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96A11F-34A8-4531-B6F3-39A48448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57650"/>
            <a:ext cx="1714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5AFEEB-6C97-495F-B205-D20E0A35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19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Hydration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89C32E-A469-4E4F-953C-E7F7A785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057650"/>
            <a:ext cx="1714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7DD817-98AE-4DD9-987B-DF25F377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19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Progress Tracking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EC801F-0CA7-4248-B709-3EA5E28A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1714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20A28C-80BC-43C6-B726-7CF60436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434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Trainer Visibility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F3FFA0-730A-4966-B6C8-795BB826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781550"/>
            <a:ext cx="1714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F6C65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6AE623-A6A5-40AB-B4CB-E998B815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9434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Next PT Session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66E947-590E-4042-A201-C20B7702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924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DE6D1"/>
                </a:solidFill>
              </a:defRPr>
            </a:pPr>
            <a:r>
              <a:rPr sz="1575" b="1">
                <a:solidFill>
                  <a:srgbClr val="3DE6D1"/>
                </a:solidFill>
              </a:rPr>
              <a:t>Every action between sessions becomes visible to the trainer.</a:t>
            </a:r>
          </a:p>
        </p:txBody>
      </p:sp>
    </p:spTree>
    <p:extLst>
      <p:ext uri="{BB962C8B-B14F-4D97-AF65-F5344CB8AC3E}">
        <p14:creationId xmlns:p14="http://schemas.microsoft.com/office/powerpoint/2010/main" val="13179496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B61999-004A-4674-B187-2AC6A512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0EF176-F235-43A0-BD8F-C4A8E00C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85E9F5-1D8C-43BD-BD3F-460BD534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EC0E5C-C3D1-4796-A64B-917D416B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8117F-73C6-4CEF-9AC2-5778E89C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Why AI?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3F0E57-16CD-46BA-822E-65581435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38300"/>
            <a:ext cx="4476750" cy="3752850"/>
          </a:xfrm>
          <a:prstGeom xmlns:a="http://schemas.openxmlformats.org/drawingml/2006/main" prst="roundRect">
            <a:avLst>
              <a:gd name="adj" fmla="val 5584"/>
            </a:avLst>
          </a:prstGeom>
          <a:solidFill xmlns:a="http://schemas.openxmlformats.org/drawingml/2006/main">
            <a:srgbClr val="0B111B"/>
          </a:solidFill>
          <a:ln xmlns:a="http://schemas.openxmlformats.org/drawingml/2006/main" w="13335">
            <a:solidFill>
              <a:srgbClr val="2B35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9757B7-BF39-4313-AC50-9BC38B45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955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</a:defRPr>
            </a:pPr>
            <a:r>
              <a:rPr sz="2400" b="1">
                <a:solidFill>
                  <a:srgbClr val="F8FAFC"/>
                </a:solidFill>
              </a:rPr>
              <a:t>Without Ascend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FC50A5-47DF-4642-A199-E4B5DE6B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19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6C65B"/>
                </a:solidFill>
              </a:defRPr>
            </a:pPr>
            <a:r>
              <a:rPr sz="2100" b="1">
                <a:solidFill>
                  <a:srgbClr val="F6C65B"/>
                </a:solidFill>
              </a:rPr>
              <a:t>Trainer manages 40 clients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B0A6A-9E4D-4F71-826E-533C7AD4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29000"/>
            <a:ext cx="247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ADBB"/>
                </a:solidFill>
              </a:defRPr>
            </a:pPr>
            <a:r>
              <a:rPr sz="1650" b="0">
                <a:solidFill>
                  <a:srgbClr val="A7ADBB"/>
                </a:solidFill>
              </a:rPr>
              <a:t>Meals</a:t>
            </a:r>
          </a:p>
          <a:p xmlns:a="http://schemas.openxmlformats.org/drawingml/2006/main">
            <a:pPr algn="l">
              <a:defRPr sz="1650" b="0">
                <a:solidFill>
                  <a:srgbClr val="A7ADBB"/>
                </a:solidFill>
              </a:defRPr>
            </a:pPr>
            <a:r>
              <a:rPr sz="1650" b="0">
                <a:solidFill>
                  <a:srgbClr val="A7ADBB"/>
                </a:solidFill>
              </a:rPr>
              <a:t>Workouts</a:t>
            </a:r>
          </a:p>
          <a:p xmlns:a="http://schemas.openxmlformats.org/drawingml/2006/main">
            <a:pPr algn="l">
              <a:defRPr sz="1650" b="0">
                <a:solidFill>
                  <a:srgbClr val="A7ADBB"/>
                </a:solidFill>
              </a:defRPr>
            </a:pPr>
            <a:r>
              <a:rPr sz="1650" b="0">
                <a:solidFill>
                  <a:srgbClr val="A7ADBB"/>
                </a:solidFill>
              </a:rPr>
              <a:t>Hydration</a:t>
            </a:r>
          </a:p>
          <a:p xmlns:a="http://schemas.openxmlformats.org/drawingml/2006/main">
            <a:pPr algn="l">
              <a:defRPr sz="1650" b="0">
                <a:solidFill>
                  <a:srgbClr val="A7ADBB"/>
                </a:solidFill>
              </a:defRPr>
            </a:pPr>
            <a:r>
              <a:rPr sz="1650" b="0">
                <a:solidFill>
                  <a:srgbClr val="A7ADBB"/>
                </a:solidFill>
              </a:rPr>
              <a:t>Habits</a:t>
            </a:r>
          </a:p>
          <a:p xmlns:a="http://schemas.openxmlformats.org/drawingml/2006/main">
            <a:pPr algn="l">
              <a:defRPr sz="1650" b="0">
                <a:solidFill>
                  <a:srgbClr val="A7ADBB"/>
                </a:solidFill>
              </a:defRPr>
            </a:pPr>
            <a:r>
              <a:rPr sz="1650" b="0">
                <a:solidFill>
                  <a:srgbClr val="A7ADBB"/>
                </a:solidFill>
              </a:rPr>
              <a:t>Progress</a:t>
            </a:r>
          </a:p>
          <a:p xmlns:a="http://schemas.openxmlformats.org/drawingml/2006/main">
            <a:pPr algn="l">
              <a:defRPr sz="1650" b="0">
                <a:solidFill>
                  <a:srgbClr val="A7ADBB"/>
                </a:solidFill>
              </a:defRPr>
            </a:pPr>
            <a:r>
              <a:rPr sz="1650" b="0">
                <a:solidFill>
                  <a:srgbClr val="A7ADBB"/>
                </a:solidFill>
              </a:rPr>
              <a:t>Motivation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33FB23-F807-42A2-AC66-6098AA55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530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7171"/>
                </a:solidFill>
              </a:defRPr>
            </a:pPr>
            <a:r>
              <a:rPr sz="1800" b="1">
                <a:solidFill>
                  <a:srgbClr val="FF7171"/>
                </a:solidFill>
              </a:rPr>
              <a:t>Important signals are missed.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82E138-52E6-422D-8E50-1269882E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38300"/>
            <a:ext cx="4476750" cy="3752850"/>
          </a:xfrm>
          <a:prstGeom xmlns:a="http://schemas.openxmlformats.org/drawingml/2006/main" prst="roundRect">
            <a:avLst>
              <a:gd name="adj" fmla="val 5584"/>
            </a:avLst>
          </a:prstGeom>
          <a:solidFill xmlns:a="http://schemas.openxmlformats.org/drawingml/2006/main">
            <a:srgbClr val="102018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D6CCE2-258C-4864-82F3-7316E0A1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955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</a:defRPr>
            </a:pPr>
            <a:r>
              <a:rPr sz="2400" b="1">
                <a:solidFill>
                  <a:srgbClr val="F8FAFC"/>
                </a:solidFill>
              </a:rPr>
              <a:t>With Ascend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96ED1D-C9A3-4B12-B191-127D1BE5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00350"/>
            <a:ext cx="2857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AE89FC-B2FB-45CB-A586-5A556DCD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62275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AI observes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D8CBBC-A8F9-4425-9B45-0C691723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718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DE6D1"/>
                </a:solidFill>
              </a:defRPr>
            </a:pPr>
            <a:r>
              <a:rPr sz="2250" b="1">
                <a:solidFill>
                  <a:srgbClr val="3DE6D1"/>
                </a:solidFill>
              </a:rPr>
              <a:t>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5DD605-92FF-4834-9541-1B65CB3C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29050"/>
            <a:ext cx="2857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86063C-5598-4716-9B33-B4687662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90975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AI summarizes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19C04A-DA59-48E6-85B7-6E03C31A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005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DE6D1"/>
                </a:solidFill>
              </a:defRPr>
            </a:pPr>
            <a:r>
              <a:rPr sz="2250" b="1">
                <a:solidFill>
                  <a:srgbClr val="3DE6D1"/>
                </a:solidFill>
              </a:rPr>
              <a:t>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A12BA1-AAEB-462E-BD5C-3DD5DD6F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57750"/>
            <a:ext cx="2857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F6C6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83B264-0E75-466D-B080-CBBA3364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019675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Trainer coaches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DBC32E-F889-4275-A4CF-B88B6320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9245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3DE6D1"/>
                </a:solidFill>
              </a:defRPr>
            </a:pPr>
            <a:r>
              <a:rPr sz="2550" b="1">
                <a:solidFill>
                  <a:srgbClr val="3DE6D1"/>
                </a:solidFill>
              </a:rPr>
              <a:t>AI replaces admin. Not coaching.</a:t>
            </a:r>
          </a:p>
        </p:txBody>
      </p:sp>
    </p:spTree>
    <p:extLst>
      <p:ext uri="{BB962C8B-B14F-4D97-AF65-F5344CB8AC3E}">
        <p14:creationId xmlns:p14="http://schemas.microsoft.com/office/powerpoint/2010/main" val="3886722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1A97CB-CBB2-437B-AA7E-D3FC2AA9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D8005-82FC-4358-BE74-FC79A9BB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F79669-1646-424F-B597-0FB70EF4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F8910F-736C-4CD4-B20F-49F07C85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33DA27-F466-4B51-8F27-ED8A410F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Ascend connects the three stakeholders that drive results.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A0F75-70C5-4E2D-9A4E-C977839A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62075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ADBB"/>
                </a:solidFill>
              </a:defRPr>
            </a:pPr>
            <a:r>
              <a:rPr sz="1350" b="0">
                <a:solidFill>
                  <a:srgbClr val="A7ADBB"/>
                </a:solidFill>
              </a:rPr>
              <a:t>Client action creates trainer visibility. Trainer visibility creates owner confidence.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C98D04-8D79-4F44-952F-1D18A65E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209800" cy="4324350"/>
          </a:xfrm>
          <a:prstGeom xmlns:a="http://schemas.openxmlformats.org/drawingml/2006/main" prst="roundRect">
            <a:avLst>
              <a:gd name="adj" fmla="val 14655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3EF858-B9A5-4E03-BBCB-B97B094C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912" y="1914525"/>
            <a:ext cx="646176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4669b52e24be6"/>
          <a:stretch xmlns:a="http://schemas.openxmlformats.org/drawingml/2006/main"/>
        </p:blipFill>
        <p:spPr>
          <a:xfrm xmlns:a="http://schemas.openxmlformats.org/drawingml/2006/main">
            <a:off x="916260" y="1924050"/>
            <a:ext cx="1977479" cy="4095750"/>
          </a:xfrm>
          <a:prstGeom xmlns:a="http://schemas.openxmlformats.org/drawingml/2006/main" prst="roundRect">
            <a:avLst>
              <a:gd name="adj" fmla="val 11321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FEE5B-4736-4D72-AEE4-8FC68012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09750"/>
            <a:ext cx="2209800" cy="4324350"/>
          </a:xfrm>
          <a:prstGeom xmlns:a="http://schemas.openxmlformats.org/drawingml/2006/main" prst="roundRect">
            <a:avLst>
              <a:gd name="adj" fmla="val 14655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961C36-D7C3-4078-A508-7203FA9C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7662" y="1914525"/>
            <a:ext cx="646176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1aba9b59444e78"/>
          <a:stretch xmlns:a="http://schemas.openxmlformats.org/drawingml/2006/main"/>
        </p:blipFill>
        <p:spPr>
          <a:xfrm xmlns:a="http://schemas.openxmlformats.org/drawingml/2006/main">
            <a:off x="4991100" y="2071407"/>
            <a:ext cx="2019300" cy="3801035"/>
          </a:xfrm>
          <a:prstGeom xmlns:a="http://schemas.openxmlformats.org/drawingml/2006/main" prst="roundRect">
            <a:avLst>
              <a:gd name="adj" fmla="val 11321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50BEC-03A7-484D-9EE2-7EC4E175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809750"/>
            <a:ext cx="2209800" cy="4324350"/>
          </a:xfrm>
          <a:prstGeom xmlns:a="http://schemas.openxmlformats.org/drawingml/2006/main" prst="roundRect">
            <a:avLst>
              <a:gd name="adj" fmla="val 14655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A7A78-B018-4C78-9C03-2290D033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5312" y="1914525"/>
            <a:ext cx="646176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a879f4d37940f5"/>
          <a:stretch xmlns:a="http://schemas.openxmlformats.org/drawingml/2006/main"/>
        </p:blipFill>
        <p:spPr>
          <a:xfrm xmlns:a="http://schemas.openxmlformats.org/drawingml/2006/main">
            <a:off x="9048750" y="2088030"/>
            <a:ext cx="2019300" cy="3767790"/>
          </a:xfrm>
          <a:prstGeom xmlns:a="http://schemas.openxmlformats.org/drawingml/2006/main" prst="roundRect">
            <a:avLst>
              <a:gd name="adj" fmla="val 11321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9C07DF-A7F8-440A-82D9-37E42565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1722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DE6D1"/>
                </a:solidFill>
              </a:defRPr>
            </a:pPr>
            <a:r>
              <a:rPr sz="1050" b="1">
                <a:solidFill>
                  <a:srgbClr val="3DE6D1"/>
                </a:solidFill>
              </a:rPr>
              <a:t>CLIENT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60670D-34CC-4877-A0FE-1E6A51BD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61722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8B5CF6"/>
                </a:solidFill>
              </a:defRPr>
            </a:pPr>
            <a:r>
              <a:rPr sz="1050" b="1">
                <a:solidFill>
                  <a:srgbClr val="8B5CF6"/>
                </a:solidFill>
              </a:rPr>
              <a:t>TRAINER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76FF2D-2DBF-4E5A-B3A5-3F8A6D60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61722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6C65B"/>
                </a:solidFill>
              </a:defRPr>
            </a:pPr>
            <a:r>
              <a:rPr sz="1050" b="1">
                <a:solidFill>
                  <a:srgbClr val="F6C65B"/>
                </a:solidFill>
              </a:rPr>
              <a:t>OWNER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EF793E-3979-4C8E-A431-F171DD40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81400"/>
            <a:ext cx="762000" cy="4191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9620B1-B829-4D2C-B9F6-EA6CA927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81400"/>
            <a:ext cx="762000" cy="4191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894995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34A23B-C512-4600-9618-781ED003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4F2333-AEC9-4D44-B792-7650802E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CAC5B6-03E2-41B6-BAAB-797BAA27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670E0C-FC45-4296-886B-5118C800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641EA-D10C-4C16-99CC-1659BCB4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Members know what to do today before they scroll.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FCC07-178A-4E67-8816-D53724C8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2381250" cy="4705350"/>
          </a:xfrm>
          <a:prstGeom xmlns:a="http://schemas.openxmlformats.org/drawingml/2006/main" prst="roundRect">
            <a:avLst>
              <a:gd name="adj" fmla="val 13600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B1BC9C-AB3A-4451-9FAA-70A248DB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005" y="1666875"/>
            <a:ext cx="70104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378117aba4ef3"/>
          <a:stretch xmlns:a="http://schemas.openxmlformats.org/drawingml/2006/main"/>
        </p:blipFill>
        <p:spPr>
          <a:xfrm xmlns:a="http://schemas.openxmlformats.org/drawingml/2006/main">
            <a:off x="832061" y="1676400"/>
            <a:ext cx="2164928" cy="4476750"/>
          </a:xfrm>
          <a:prstGeom xmlns:a="http://schemas.openxmlformats.org/drawingml/2006/main" prst="roundRect">
            <a:avLst>
              <a:gd name="adj" fmla="val 10435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674006-352B-4F43-8B77-1D4740CF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371600"/>
            <a:ext cx="2381250" cy="4705350"/>
          </a:xfrm>
          <a:prstGeom xmlns:a="http://schemas.openxmlformats.org/drawingml/2006/main" prst="roundRect">
            <a:avLst>
              <a:gd name="adj" fmla="val 13600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ACA5BF-2627-4CB8-8EF3-6E4F1AD1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555" y="1476375"/>
            <a:ext cx="70104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b57c322f014504"/>
          <a:stretch xmlns:a="http://schemas.openxmlformats.org/drawingml/2006/main"/>
        </p:blipFill>
        <p:spPr>
          <a:xfrm xmlns:a="http://schemas.openxmlformats.org/drawingml/2006/main">
            <a:off x="3329360" y="1485900"/>
            <a:ext cx="2161431" cy="4476750"/>
          </a:xfrm>
          <a:prstGeom xmlns:a="http://schemas.openxmlformats.org/drawingml/2006/main" prst="roundRect">
            <a:avLst>
              <a:gd name="adj" fmla="val 10435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097369-E2E1-441B-8F11-16AAD612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57400"/>
            <a:ext cx="4629150" cy="3048000"/>
          </a:xfrm>
          <a:prstGeom xmlns:a="http://schemas.openxmlformats.org/drawingml/2006/main" prst="roundRect">
            <a:avLst>
              <a:gd name="adj" fmla="val 6875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7A4906-97C4-4DC4-9EF1-37687060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003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What this solves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ACC441-A90D-49A3-B7E2-8D812F1D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61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99706E-50B0-4FF5-BEE0-F597E510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33147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Less overwhelm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92456A-95EE-4198-B3EE-15C51629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86125"/>
            <a:ext cx="3314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The member sees today's task before the full feature set.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498C3A-EA7A-4B27-9B20-82764340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814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0E5FAE-3568-4E5D-914C-F839ED55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24300"/>
            <a:ext cx="33147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More consistency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1B109D-CBFE-415C-B8DE-E12DC8D0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181475"/>
            <a:ext cx="3314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Simple progress cards reinforce small daily actions.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593ACD-E651-405F-90B9-28F8EE15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76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307411-A5AD-4937-B6FD-C474ACA3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819650"/>
            <a:ext cx="33147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Coach Zoe feels present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7E714E-350B-4DEB-820C-0EC7AB20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076825"/>
            <a:ext cx="3314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One timely insight, not a wall of AI text.</a:t>
            </a:r>
          </a:p>
        </p:txBody>
      </p:sp>
    </p:spTree>
    <p:extLst>
      <p:ext uri="{BB962C8B-B14F-4D97-AF65-F5344CB8AC3E}">
        <p14:creationId xmlns:p14="http://schemas.microsoft.com/office/powerpoint/2010/main" val="11443004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957151-8A23-42CD-A5AB-13E6FD03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E2F82-CCCA-48C0-869D-1E3F0124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8F564-D48B-4860-86B2-39479575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6951E-DE7D-423A-8B97-C4BAA585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295DB1-40CE-4704-9B66-4C98898E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Food logging that works in real life.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448343-BF4B-4E43-AB28-54D3D9E0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2209800" cy="4667250"/>
          </a:xfrm>
          <a:prstGeom xmlns:a="http://schemas.openxmlformats.org/drawingml/2006/main" prst="roundRect">
            <a:avLst>
              <a:gd name="adj" fmla="val 14655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D0CED5-B96E-4AA6-BF48-1459B9B4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400175"/>
            <a:ext cx="646176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c1fb9b580c47d2"/>
          <a:stretch xmlns:a="http://schemas.openxmlformats.org/drawingml/2006/main"/>
        </p:blipFill>
        <p:spPr>
          <a:xfrm xmlns:a="http://schemas.openxmlformats.org/drawingml/2006/main">
            <a:off x="666750" y="1520784"/>
            <a:ext cx="2019300" cy="4216483"/>
          </a:xfrm>
          <a:prstGeom xmlns:a="http://schemas.openxmlformats.org/drawingml/2006/main" prst="roundRect">
            <a:avLst>
              <a:gd name="adj" fmla="val 1132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10C2E-A3A9-4D54-B031-76D77728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295400"/>
            <a:ext cx="2209800" cy="4667250"/>
          </a:xfrm>
          <a:prstGeom xmlns:a="http://schemas.openxmlformats.org/drawingml/2006/main" prst="roundRect">
            <a:avLst>
              <a:gd name="adj" fmla="val 14655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5313F2-8259-477B-8DD8-1C5950E5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8362" y="1400175"/>
            <a:ext cx="646176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338d7b6ed41b9"/>
          <a:stretch xmlns:a="http://schemas.openxmlformats.org/drawingml/2006/main"/>
        </p:blipFill>
        <p:spPr>
          <a:xfrm xmlns:a="http://schemas.openxmlformats.org/drawingml/2006/main">
            <a:off x="2971800" y="1524217"/>
            <a:ext cx="2019300" cy="4209616"/>
          </a:xfrm>
          <a:prstGeom xmlns:a="http://schemas.openxmlformats.org/drawingml/2006/main" prst="roundRect">
            <a:avLst>
              <a:gd name="adj" fmla="val 11321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4B9A66-E87E-44B6-9ED4-BF3CFFB3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600200"/>
            <a:ext cx="4762500" cy="4038600"/>
          </a:xfrm>
          <a:prstGeom xmlns:a="http://schemas.openxmlformats.org/drawingml/2006/main" prst="roundRect">
            <a:avLst>
              <a:gd name="adj" fmla="val 5189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832BBF-C009-4702-81BE-8E11403C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431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ADBB"/>
                </a:solidFill>
              </a:defRPr>
            </a:pPr>
            <a:r>
              <a:rPr sz="1350" b="0">
                <a:solidFill>
                  <a:srgbClr val="A7ADBB"/>
                </a:solidFill>
              </a:rPr>
              <a:t>No perfect photos. No calorie database. Just describe the meal.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EE70E2-DB6D-4DEB-9D56-4D1E0ACD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003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E6D1"/>
                </a:solidFill>
              </a:defRPr>
            </a:pPr>
            <a:r>
              <a:rPr sz="2025" b="1">
                <a:solidFill>
                  <a:srgbClr val="3DE6D1"/>
                </a:solidFill>
              </a:rPr>
              <a:t>Take Photo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4BAF3-BD16-4AD2-A5FD-43DAD51D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4193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7ADBB"/>
                </a:solidFill>
              </a:defRPr>
            </a:pPr>
            <a:r>
              <a:rPr sz="1575" b="1">
                <a:solidFill>
                  <a:srgbClr val="A7ADBB"/>
                </a:solidFill>
              </a:rPr>
              <a:t>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2D4522-4D5B-4BCB-9F1D-AF3CC1DF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003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8B5CF6"/>
                </a:solidFill>
              </a:defRPr>
            </a:pPr>
            <a:r>
              <a:rPr sz="2025" b="1">
                <a:solidFill>
                  <a:srgbClr val="8B5CF6"/>
                </a:solidFill>
              </a:rPr>
              <a:t>Type what you 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CDCCDA-F564-4439-BA5B-E2E53EDA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28950"/>
            <a:ext cx="371475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3335">
            <a:solidFill>
              <a:srgbClr val="2B35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BED24F-F32A-4708-80DF-16D4B1F8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81350"/>
            <a:ext cx="323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Chicken rice • Nasi lemak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11FA72-B5C7-4782-8142-141D2C42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29000"/>
            <a:ext cx="323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ADBB"/>
                </a:solidFill>
              </a:defRPr>
            </a:pPr>
            <a:r>
              <a:rPr sz="1275" b="0">
                <a:solidFill>
                  <a:srgbClr val="A7ADBB"/>
                </a:solidFill>
              </a:rPr>
              <a:t>Protein shake • McChicken meal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FDF539-E82E-4221-A46D-6FC3490A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5760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2 eggs and toast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7E3469-09E3-456F-BDAF-F0768CED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052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DE6D1"/>
                </a:solidFill>
              </a:defRPr>
            </a:pPr>
            <a:r>
              <a:rPr sz="2250" b="1">
                <a:solidFill>
                  <a:srgbClr val="3DE6D1"/>
                </a:solidFill>
              </a:rPr>
              <a:t>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845270-8921-48A0-940E-C33DB4CA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43400"/>
            <a:ext cx="276225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0D131D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D062BD-FB28-436D-B2DD-EC3F883B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50532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AI analyses the meal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A2A8C9-F200-41F6-9717-B7968BFC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9339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DE6D1"/>
                </a:solidFill>
              </a:defRPr>
            </a:pPr>
            <a:r>
              <a:rPr sz="2250" b="1">
                <a:solidFill>
                  <a:srgbClr val="3DE6D1"/>
                </a:solidFill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21B9DA-D605-47EC-9F9B-B9CAC919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257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8FAFC"/>
                </a:solidFill>
              </a:defRPr>
            </a:pPr>
            <a:r>
              <a:rPr sz="1725" b="1">
                <a:solidFill>
                  <a:srgbClr val="F8FAFC"/>
                </a:solidFill>
              </a:rPr>
              <a:t>Calories  •  Protein  •  Carbs  •  Fat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0A5E7E-40BF-4749-89CE-6D387349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543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DE6D1"/>
                </a:solidFill>
              </a:defRPr>
            </a:pPr>
            <a:r>
              <a:rPr sz="1725" b="1">
                <a:solidFill>
                  <a:srgbClr val="3DE6D1"/>
                </a:solidFill>
              </a:rPr>
              <a:t>Save</a:t>
            </a:r>
          </a:p>
        </p:txBody>
      </p:sp>
    </p:spTree>
    <p:extLst>
      <p:ext uri="{BB962C8B-B14F-4D97-AF65-F5344CB8AC3E}">
        <p14:creationId xmlns:p14="http://schemas.microsoft.com/office/powerpoint/2010/main" val="18845881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F8ABAE-D7ED-4CA6-AF07-6C693C53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E80EB6-2B4A-4CDA-8EC9-C7ACC10E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F0AB6-444C-4BEB-BF57-800CAF44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D2F4D-F1A8-41D2-899F-B0ED55F4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8B525-A7AA-40E0-9B1B-6DE1CB1B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Coach Zoe keeps the member moving between sessions.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428B6-E657-49B8-A90F-C114DA83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95400"/>
            <a:ext cx="2571750" cy="5086350"/>
          </a:xfrm>
          <a:prstGeom xmlns:a="http://schemas.openxmlformats.org/drawingml/2006/main" prst="roundRect">
            <a:avLst>
              <a:gd name="adj" fmla="val 12593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C2D64C-AE86-4D69-970D-BC53FDED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1400175"/>
            <a:ext cx="762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3b6e585364e9c"/>
          <a:stretch xmlns:a="http://schemas.openxmlformats.org/drawingml/2006/main"/>
        </p:blipFill>
        <p:spPr>
          <a:xfrm xmlns:a="http://schemas.openxmlformats.org/drawingml/2006/main">
            <a:off x="856134" y="1409700"/>
            <a:ext cx="2345382" cy="4857750"/>
          </a:xfrm>
          <a:prstGeom xmlns:a="http://schemas.openxmlformats.org/drawingml/2006/main" prst="roundRect">
            <a:avLst>
              <a:gd name="adj" fmla="val 9600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C8DFFD-F7AD-4581-A391-12D4AC85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09750"/>
            <a:ext cx="6762750" cy="3238500"/>
          </a:xfrm>
          <a:prstGeom xmlns:a="http://schemas.openxmlformats.org/drawingml/2006/main" prst="roundRect">
            <a:avLst>
              <a:gd name="adj" fmla="val 6471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D83B7D-1F10-47C9-BB95-3F2FC8FB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098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</a:defRPr>
            </a:pPr>
            <a:r>
              <a:rPr sz="2550" b="1">
                <a:solidFill>
                  <a:srgbClr val="F8FAFC"/>
                </a:solidFill>
              </a:rPr>
              <a:t>So what?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441B1A-6548-4A50-BA1D-3A156E2A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670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E306A7-3261-4BFB-9B15-C9598932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09900"/>
            <a:ext cx="51244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Momentum is protected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01FD59-58F6-4AB1-B9FF-63FD64F1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67075"/>
            <a:ext cx="5124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One useful nudge at the right time.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3A5A9E-4959-4911-9D87-40BBAFB5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BB69B4-BC58-43D0-98AA-AE2EC6BE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43350"/>
            <a:ext cx="51244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Workouts become easier to 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086334-A2BD-49BB-AE63-87B54A1F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00525"/>
            <a:ext cx="5124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The member gets a plan when motivation is low.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BF83A9-8D65-4C0C-B73F-F94CC0D5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339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E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354F04-45DD-4D5D-BA9A-236491B7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76800"/>
            <a:ext cx="51244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The app remembers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E48D69-7D4A-4B9E-8A2D-F8FAB4A8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133975"/>
            <a:ext cx="5124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Recent activity shapes the next recommendation.</a:t>
            </a:r>
          </a:p>
        </p:txBody>
      </p:sp>
    </p:spTree>
    <p:extLst>
      <p:ext uri="{BB962C8B-B14F-4D97-AF65-F5344CB8AC3E}">
        <p14:creationId xmlns:p14="http://schemas.microsoft.com/office/powerpoint/2010/main" val="33214139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4C64F9-5E23-4778-ACA3-5679B5B9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029E49-F264-4329-B12F-BAD414CE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081805-FF57-4D97-BAA4-BB4DDB51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A00E3D-7CED-4523-84E1-2E5ADC62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0B686-9135-43F3-8F3E-038FC87D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Trainers begin each day with a coaching plan.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69A77-C747-46B9-817C-71AA8166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238250"/>
            <a:ext cx="2400300" cy="4857750"/>
          </a:xfrm>
          <a:prstGeom xmlns:a="http://schemas.openxmlformats.org/drawingml/2006/main" prst="roundRect">
            <a:avLst>
              <a:gd name="adj" fmla="val 13492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86C35C-3999-4459-8A64-F5CCD9D1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5732" y="1343025"/>
            <a:ext cx="707136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7e6528b4b94406"/>
          <a:stretch xmlns:a="http://schemas.openxmlformats.org/drawingml/2006/main"/>
        </p:blipFill>
        <p:spPr>
          <a:xfrm xmlns:a="http://schemas.openxmlformats.org/drawingml/2006/main">
            <a:off x="914400" y="1587313"/>
            <a:ext cx="2209800" cy="4159624"/>
          </a:xfrm>
          <a:prstGeom xmlns:a="http://schemas.openxmlformats.org/drawingml/2006/main" prst="roundRect">
            <a:avLst>
              <a:gd name="adj" fmla="val 10345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15552E-EA38-4415-BE42-29FA715B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333500"/>
            <a:ext cx="2400300" cy="4667250"/>
          </a:xfrm>
          <a:prstGeom xmlns:a="http://schemas.openxmlformats.org/drawingml/2006/main" prst="roundRect">
            <a:avLst>
              <a:gd name="adj" fmla="val 13492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52EAC-DD7B-4916-93A1-C69F95B6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732" y="1438275"/>
            <a:ext cx="707136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e1d8ba8f1743dc"/>
          <a:stretch xmlns:a="http://schemas.openxmlformats.org/drawingml/2006/main"/>
        </p:blipFill>
        <p:spPr>
          <a:xfrm xmlns:a="http://schemas.openxmlformats.org/drawingml/2006/main">
            <a:off x="3661596" y="1447800"/>
            <a:ext cx="2049408" cy="4438650"/>
          </a:xfrm>
          <a:prstGeom xmlns:a="http://schemas.openxmlformats.org/drawingml/2006/main" prst="roundRect">
            <a:avLst>
              <a:gd name="adj" fmla="val 10345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EC45C-4567-4C65-801C-A629323A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05000"/>
            <a:ext cx="3810000" cy="3409950"/>
          </a:xfrm>
          <a:prstGeom xmlns:a="http://schemas.openxmlformats.org/drawingml/2006/main" prst="roundRect">
            <a:avLst>
              <a:gd name="adj" fmla="val 6145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3C91A-77A4-4271-B07A-191D2C99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62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8FAFC"/>
                </a:solidFill>
              </a:defRPr>
            </a:pPr>
            <a:r>
              <a:rPr sz="1950" b="1">
                <a:solidFill>
                  <a:srgbClr val="F8FAFC"/>
                </a:solidFill>
              </a:rPr>
              <a:t>Why trainers care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6E340-F129-4D84-9C8F-1BDC8FA8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15FA97-F656-42EC-A364-4FF6DDB1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2647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Faster triage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E89146-9D2B-45B1-952A-93BA8D71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48025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Premium and Athlete clients surface in one priority list.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245B56-6002-457A-8917-15A5C2FA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05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FAC139-E986-40F6-9DBE-A9BFD9E9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48100"/>
            <a:ext cx="2647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Clear next 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2CB37D-2B3A-4225-95DE-8100EF9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05275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Each card suggests what the coach should do next.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99AB1-C27E-49E0-AD67-6E41C1C34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291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A58BBB-4B9C-4556-97E9-76F9B0A8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72000"/>
            <a:ext cx="2647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Weekly summary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820D5E-5F87-470D-B3FE-FE11FF7A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29175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Trainers can see improving, plateaued and at-risk clients.</a:t>
            </a:r>
          </a:p>
        </p:txBody>
      </p:sp>
    </p:spTree>
    <p:extLst>
      <p:ext uri="{BB962C8B-B14F-4D97-AF65-F5344CB8AC3E}">
        <p14:creationId xmlns:p14="http://schemas.microsoft.com/office/powerpoint/2010/main" val="71498638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8ADF43-BDB6-4144-A0ED-17DDCE7A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0EB9F-39A7-4754-931F-C7050D33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CBEA10-4C21-45BE-B02B-6827901D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524D06-9398-41EB-96A0-A84C5A72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14D19-3065-4420-9C75-87413345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Every client check-in starts with evidence, not guesswork.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1ABF3-721C-42B7-89CB-36A611F9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00150"/>
            <a:ext cx="2533650" cy="4991100"/>
          </a:xfrm>
          <a:prstGeom xmlns:a="http://schemas.openxmlformats.org/drawingml/2006/main" prst="roundRect">
            <a:avLst>
              <a:gd name="adj" fmla="val 12782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AA995-4A7D-4768-8F5C-471F7BC6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2021" y="1304925"/>
            <a:ext cx="749808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b15f73d0c4c09"/>
          <a:stretch xmlns:a="http://schemas.openxmlformats.org/drawingml/2006/main"/>
        </p:blipFill>
        <p:spPr>
          <a:xfrm xmlns:a="http://schemas.openxmlformats.org/drawingml/2006/main">
            <a:off x="895350" y="1740529"/>
            <a:ext cx="2343150" cy="3910342"/>
          </a:xfrm>
          <a:prstGeom xmlns:a="http://schemas.openxmlformats.org/drawingml/2006/main" prst="roundRect">
            <a:avLst>
              <a:gd name="adj" fmla="val 9756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0CE0AF-132B-42E2-AA9E-619F44B1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200150"/>
            <a:ext cx="2533650" cy="4991100"/>
          </a:xfrm>
          <a:prstGeom xmlns:a="http://schemas.openxmlformats.org/drawingml/2006/main" prst="roundRect">
            <a:avLst>
              <a:gd name="adj" fmla="val 12782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4C9516-E499-49B8-B160-51A3BF97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2371" y="1304925"/>
            <a:ext cx="749808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bb24beafc847a9"/>
          <a:stretch xmlns:a="http://schemas.openxmlformats.org/drawingml/2006/main"/>
        </p:blipFill>
        <p:spPr>
          <a:xfrm xmlns:a="http://schemas.openxmlformats.org/drawingml/2006/main">
            <a:off x="3695700" y="1509671"/>
            <a:ext cx="2343150" cy="4372058"/>
          </a:xfrm>
          <a:prstGeom xmlns:a="http://schemas.openxmlformats.org/drawingml/2006/main" prst="roundRect">
            <a:avLst>
              <a:gd name="adj" fmla="val 9756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7A9660-6AB8-430F-B25A-D778FF34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38350"/>
            <a:ext cx="2476500" cy="12954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B33E4D-8496-4DBA-A437-37C65AE9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257425"/>
            <a:ext cx="2019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17A8C"/>
                </a:solidFill>
              </a:defRPr>
            </a:pPr>
            <a:r>
              <a:rPr sz="900" b="1">
                <a:solidFill>
                  <a:srgbClr val="717A8C"/>
                </a:solidFill>
              </a:rPr>
              <a:t>MEAL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AD12CF-F3BE-4930-B541-2982B03B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6222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DE6D1"/>
                </a:solidFill>
              </a:defRPr>
            </a:pPr>
            <a:r>
              <a:rPr sz="2400" b="1">
                <a:solidFill>
                  <a:srgbClr val="3DE6D1"/>
                </a:solidFill>
              </a:rPr>
              <a:t>Latest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F50CC4-A30F-47D6-985E-E0BA05D8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95275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7ADBB"/>
                </a:solidFill>
              </a:defRPr>
            </a:pPr>
            <a:r>
              <a:rPr sz="1050" b="0">
                <a:solidFill>
                  <a:srgbClr val="A7ADBB"/>
                </a:solidFill>
              </a:rPr>
              <a:t>Food logs are visible where the coach reviews the client.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2F289F-A156-4E8A-9AAD-39412C0D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57600"/>
            <a:ext cx="2476500" cy="12954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F8A038-E6CD-425E-A2A5-83FE4168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76675"/>
            <a:ext cx="2019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17A8C"/>
                </a:solidFill>
              </a:defRPr>
            </a:pPr>
            <a:r>
              <a:rPr sz="900" b="1">
                <a:solidFill>
                  <a:srgbClr val="717A8C"/>
                </a:solidFill>
              </a:rPr>
              <a:t>MISSIONS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7F0389-6332-45BD-B3C9-CACECC49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1814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B5CF6"/>
                </a:solidFill>
              </a:defRPr>
            </a:pPr>
            <a:r>
              <a:rPr sz="2400" b="1">
                <a:solidFill>
                  <a:srgbClr val="8B5CF6"/>
                </a:solidFill>
              </a:rPr>
              <a:t>Assign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95B890-9F71-4D30-8B6F-EB80CEE6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720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7ADBB"/>
                </a:solidFill>
              </a:defRPr>
            </a:pPr>
            <a:r>
              <a:rPr sz="1050" b="0">
                <a:solidFill>
                  <a:srgbClr val="A7ADBB"/>
                </a:solidFill>
              </a:rPr>
              <a:t>Simple actions keep the client accountable between sessions.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15F5ED-04CB-4158-99CE-1A006BFC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57600"/>
            <a:ext cx="2095500" cy="12954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0F4B92-33B2-49F2-9720-C768FF59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876675"/>
            <a:ext cx="1638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17A8C"/>
                </a:solidFill>
              </a:defRPr>
            </a:pPr>
            <a:r>
              <a:rPr sz="900" b="1">
                <a:solidFill>
                  <a:srgbClr val="717A8C"/>
                </a:solidFill>
              </a:rPr>
              <a:t>NUTRITION 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B1A427-7D98-4BC1-BFE2-852BD62F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181475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C65B"/>
                </a:solidFill>
              </a:defRPr>
            </a:pPr>
            <a:r>
              <a:rPr sz="2400" b="1">
                <a:solidFill>
                  <a:srgbClr val="F6C65B"/>
                </a:solidFill>
              </a:rPr>
              <a:t>Adjust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B6A703-CBCC-44A2-9D3D-067B0DCB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572000"/>
            <a:ext cx="1638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7ADBB"/>
                </a:solidFill>
              </a:defRPr>
            </a:pPr>
            <a:r>
              <a:rPr sz="1050" b="0">
                <a:solidFill>
                  <a:srgbClr val="A7ADBB"/>
                </a:solidFill>
              </a:rPr>
              <a:t>Trainer can set context without replacing Ascend's recommendation.</a:t>
            </a:r>
          </a:p>
        </p:txBody>
      </p:sp>
    </p:spTree>
    <p:extLst>
      <p:ext uri="{BB962C8B-B14F-4D97-AF65-F5344CB8AC3E}">
        <p14:creationId xmlns:p14="http://schemas.microsoft.com/office/powerpoint/2010/main" val="7025792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050BD4-E029-43CD-BD94-00A6E8B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C480EF-820F-409B-AD58-24F630F3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24E857-85BD-4CFB-8606-2154F792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8BFD0-3A25-4220-8998-0EE3422A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5DEF7-6CC3-47B3-931E-C9CC3592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Every week begins with a coaching summary instead of guesswork.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AF487E-5BD9-47B8-93D7-7FDE08FA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04900"/>
            <a:ext cx="2571750" cy="5086350"/>
          </a:xfrm>
          <a:prstGeom xmlns:a="http://schemas.openxmlformats.org/drawingml/2006/main" prst="roundRect">
            <a:avLst>
              <a:gd name="adj" fmla="val 12593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7E3C2-2340-4B8D-9C0F-E0DC4C9F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1209675"/>
            <a:ext cx="762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c775ac7fc14641"/>
          <a:stretch xmlns:a="http://schemas.openxmlformats.org/drawingml/2006/main"/>
        </p:blipFill>
        <p:spPr>
          <a:xfrm xmlns:a="http://schemas.openxmlformats.org/drawingml/2006/main">
            <a:off x="876300" y="1416743"/>
            <a:ext cx="2381250" cy="4462665"/>
          </a:xfrm>
          <a:prstGeom xmlns:a="http://schemas.openxmlformats.org/drawingml/2006/main" prst="roundRect">
            <a:avLst>
              <a:gd name="adj" fmla="val 9600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9EC5D1-2096-4E15-A786-54929024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38350"/>
            <a:ext cx="6286500" cy="2952750"/>
          </a:xfrm>
          <a:prstGeom xmlns:a="http://schemas.openxmlformats.org/drawingml/2006/main" prst="roundRect">
            <a:avLst>
              <a:gd name="adj" fmla="val 7097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B902E-0EF8-48C4-BE2A-677CA7F5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00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A coaching briefing, not an activity dump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865AB-03BE-4770-865F-720D93D6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81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836705-A44B-44F1-9595-8A66BC5C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24200"/>
            <a:ext cx="4552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Nutrition summary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D75E8B-0273-48F6-A9A8-AF32A454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81375"/>
            <a:ext cx="455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Meals, calories and protein are grouped by day.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9CB96-60FF-48BF-8B75-6599D195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57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D74081-CEB3-472D-9402-0FEC4B03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0"/>
            <a:ext cx="4552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Hydration summary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782B43-B9FC-4B20-8F1A-EA05E229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257675"/>
            <a:ext cx="455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Water logs become one coaching signal.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D13502-7EA1-4063-85B6-F8A4EA51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B4AF4-F9EB-404F-94F7-2BCE6DB1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876800"/>
            <a:ext cx="4552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Coach Zoe interventions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793A0B-BB74-4038-919B-F77C625C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133975"/>
            <a:ext cx="455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The trainer sees when Zoe supported the client.</a:t>
            </a:r>
          </a:p>
        </p:txBody>
      </p:sp>
    </p:spTree>
    <p:extLst>
      <p:ext uri="{BB962C8B-B14F-4D97-AF65-F5344CB8AC3E}">
        <p14:creationId xmlns:p14="http://schemas.microsoft.com/office/powerpoint/2010/main" val="14963852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F8ECB2-0865-4B0E-BE32-8473072F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ACAE5-D381-4627-AF16-BC01E345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8FAD4-EBD8-4C60-A0B1-11559CD0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B4A1B-5340-45F1-964D-5E4F2D0A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7C21A-FA66-4AE4-908F-9376BC85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Premium members receive a coaching experience worth paying for.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BD8F8F-729D-4CBC-BC25-DB6A34A9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28700"/>
            <a:ext cx="2438400" cy="5181600"/>
          </a:xfrm>
          <a:prstGeom xmlns:a="http://schemas.openxmlformats.org/drawingml/2006/main" prst="roundRect">
            <a:avLst>
              <a:gd name="adj" fmla="val 13281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820C56-55C0-4695-9545-7EB3E22A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236" y="1133475"/>
            <a:ext cx="719328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5f9519cdd4632"/>
          <a:stretch xmlns:a="http://schemas.openxmlformats.org/drawingml/2006/main"/>
        </p:blipFill>
        <p:spPr>
          <a:xfrm xmlns:a="http://schemas.openxmlformats.org/drawingml/2006/main">
            <a:off x="742950" y="1488158"/>
            <a:ext cx="2247900" cy="4262684"/>
          </a:xfrm>
          <a:prstGeom xmlns:a="http://schemas.openxmlformats.org/drawingml/2006/main" prst="roundRect">
            <a:avLst>
              <a:gd name="adj" fmla="val 10169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E1D30B-3513-403C-8125-1F3D62B9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028700"/>
            <a:ext cx="2438400" cy="5181600"/>
          </a:xfrm>
          <a:prstGeom xmlns:a="http://schemas.openxmlformats.org/drawingml/2006/main" prst="roundRect">
            <a:avLst>
              <a:gd name="adj" fmla="val 13281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4F17D-8903-43E5-8FE3-0D90A1D1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236" y="1133475"/>
            <a:ext cx="719328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bf31a98e946a7"/>
          <a:stretch xmlns:a="http://schemas.openxmlformats.org/drawingml/2006/main"/>
        </p:blipFill>
        <p:spPr>
          <a:xfrm xmlns:a="http://schemas.openxmlformats.org/drawingml/2006/main">
            <a:off x="3409950" y="1484996"/>
            <a:ext cx="2247900" cy="4269009"/>
          </a:xfrm>
          <a:prstGeom xmlns:a="http://schemas.openxmlformats.org/drawingml/2006/main" prst="roundRect">
            <a:avLst>
              <a:gd name="adj" fmla="val 10169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D32CB6-AE8A-43DC-BD3C-25316E16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38350"/>
            <a:ext cx="4000500" cy="2857500"/>
          </a:xfrm>
          <a:prstGeom xmlns:a="http://schemas.openxmlformats.org/drawingml/2006/main" prst="roundRect">
            <a:avLst>
              <a:gd name="adj" fmla="val 7333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06A239-FD0E-4162-A8C6-EAB256C1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812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8FAFC"/>
                </a:solidFill>
              </a:defRPr>
            </a:pPr>
            <a:r>
              <a:rPr sz="2100" b="1">
                <a:solidFill>
                  <a:srgbClr val="F8FAFC"/>
                </a:solidFill>
              </a:rPr>
              <a:t>Why this matters commercially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6CA3CA-18C1-4B40-89E6-E82854D6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24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023F69-6F96-4CFB-856F-1E1BC1E50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67050"/>
            <a:ext cx="27432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Higher perceived value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890C03-3E28-40BA-AAC7-55E046C5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242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Body scans turn Athlete Mode into a premium coaching product.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3D1FE-1075-4D69-A3D1-DD7C2131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00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87BBB-817F-49E4-BDDC-439ECEE6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43350"/>
            <a:ext cx="27432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Better reviews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E9CC65-385C-4003-AF3E-2E98D7EC6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005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Trainer can discuss body fat, muscle and nutrition without a data dump.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17834B-4A60-4CDA-9656-F939D69D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876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E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2D615A-3BBA-462C-A7F8-403AFBF2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819650"/>
            <a:ext cx="27432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More retention hooks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34B2DA-4B16-4EC7-8336-8075590A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0768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Progress beyond the scale gives clients a reason to continue.</a:t>
            </a:r>
          </a:p>
        </p:txBody>
      </p:sp>
    </p:spTree>
    <p:extLst>
      <p:ext uri="{BB962C8B-B14F-4D97-AF65-F5344CB8AC3E}">
        <p14:creationId xmlns:p14="http://schemas.microsoft.com/office/powerpoint/2010/main" val="197160500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58ACA8-FF31-40A8-93B9-6467D396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15ADF7-0380-4D08-A3BC-6CE44DC8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D48F2-0654-4302-BA81-AD44E9CD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07BB05-A48D-4FB6-A93C-43D63779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F633AD-9AB8-4510-9C91-13AC46B2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Progress beyond the scale gives clients a reason to stay.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D8D50-3580-4436-B970-68FBDF4A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2667000" cy="5276850"/>
          </a:xfrm>
          <a:prstGeom xmlns:a="http://schemas.openxmlformats.org/drawingml/2006/main" prst="roundRect">
            <a:avLst>
              <a:gd name="adj" fmla="val 12143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B76E63-B247-4A7E-9C65-282DB519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310" y="1095375"/>
            <a:ext cx="79248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74033d8bf24ffc"/>
          <a:stretch xmlns:a="http://schemas.openxmlformats.org/drawingml/2006/main"/>
        </p:blipFill>
        <p:spPr>
          <a:xfrm xmlns:a="http://schemas.openxmlformats.org/drawingml/2006/main">
            <a:off x="876300" y="1393538"/>
            <a:ext cx="2476500" cy="4470973"/>
          </a:xfrm>
          <a:prstGeom xmlns:a="http://schemas.openxmlformats.org/drawingml/2006/main" prst="roundRect">
            <a:avLst>
              <a:gd name="adj" fmla="val 923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16EE29-1E9A-494C-B03A-0060ABE2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90700"/>
            <a:ext cx="5905500" cy="3429000"/>
          </a:xfrm>
          <a:prstGeom xmlns:a="http://schemas.openxmlformats.org/drawingml/2006/main" prst="roundRect">
            <a:avLst>
              <a:gd name="adj" fmla="val 6111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FB01E-F554-4553-A718-C5989D3F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What the coach can review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BFBFCB-AC1E-45FB-9A88-DDDBCF18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289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AB5D24-6A78-4210-8F94-C69A98A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71800"/>
            <a:ext cx="40767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Current vs previous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A285A-D856-4BC7-819C-428870C5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28975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Weight, body fat, muscle and score changes are easy to compare.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3A7FA0-8A7A-446B-BDAF-23F85081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9814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ECB215-CCA7-4D5D-BDE4-7505CBF7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24300"/>
            <a:ext cx="40767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Source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44E840-43E3-42FB-B1A0-1C1B672E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81475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The scan photo stays attached so reviews feel credible.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8813DC-5B2D-4522-8611-FE6A7D1A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339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876298-76A8-4873-BEEF-D7E45E7A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76800"/>
            <a:ext cx="40767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Nutrition update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201472-7185-45EA-88BE-BD408F42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33975"/>
            <a:ext cx="407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ADBB"/>
                </a:solidFill>
              </a:defRPr>
            </a:pPr>
            <a:r>
              <a:rPr sz="1125" b="0">
                <a:solidFill>
                  <a:srgbClr val="A7ADBB"/>
                </a:solidFill>
              </a:rPr>
              <a:t>Athlete targets can use confirmed scan data without changing normal members.</a:t>
            </a:r>
          </a:p>
        </p:txBody>
      </p:sp>
    </p:spTree>
    <p:extLst>
      <p:ext uri="{BB962C8B-B14F-4D97-AF65-F5344CB8AC3E}">
        <p14:creationId xmlns:p14="http://schemas.microsoft.com/office/powerpoint/2010/main" val="6409454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020B87-2526-47C4-9AEC-4F502793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5C2DD7-ED4A-45C5-AC62-831A2A54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E016C-C1D7-498C-B0F3-EE9F1A7C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B1B079-E399-41DF-B13C-428E642A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249D79-CB10-4CB9-8016-294CB090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Owners see the business levers that deserve attention.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6EDBE9-611D-4784-9A98-CCC3AC98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43000"/>
            <a:ext cx="2457450" cy="4991100"/>
          </a:xfrm>
          <a:prstGeom xmlns:a="http://schemas.openxmlformats.org/drawingml/2006/main" prst="roundRect">
            <a:avLst>
              <a:gd name="adj" fmla="val 13178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DE31D-5888-4E96-9FED-C8292395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963" y="1247775"/>
            <a:ext cx="725424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f0d62adb8b413b"/>
          <a:stretch xmlns:a="http://schemas.openxmlformats.org/drawingml/2006/main"/>
        </p:blipFill>
        <p:spPr>
          <a:xfrm xmlns:a="http://schemas.openxmlformats.org/drawingml/2006/main">
            <a:off x="838200" y="1597976"/>
            <a:ext cx="2266950" cy="4081148"/>
          </a:xfrm>
          <a:prstGeom xmlns:a="http://schemas.openxmlformats.org/drawingml/2006/main" prst="roundRect">
            <a:avLst>
              <a:gd name="adj" fmla="val 1008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892BA-9767-4C64-862E-F741EEA4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362075"/>
            <a:ext cx="4572000" cy="4572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A0E16"/>
          </a:solidFill>
          <a:ln xmlns:a="http://schemas.openxmlformats.org/drawingml/2006/main" w="13335">
            <a:solidFill>
              <a:srgbClr val="2B35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8da2aa7eb44c1"/>
          <a:srcRect xmlns:a="http://schemas.openxmlformats.org/drawingml/2006/main" l="1289" t="0" r="12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0" y="1409700"/>
            <a:ext cx="4476750" cy="4476750"/>
          </a:xfrm>
          <a:prstGeom xmlns:a="http://schemas.openxmlformats.org/drawingml/2006/main" prst="roundRect">
            <a:avLst>
              <a:gd name="adj" fmla="val 2979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031A5-C54D-4559-9440-2BEBBB83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33600"/>
            <a:ext cx="2190750" cy="2857500"/>
          </a:xfrm>
          <a:prstGeom xmlns:a="http://schemas.openxmlformats.org/drawingml/2006/main" prst="roundRect">
            <a:avLst>
              <a:gd name="adj" fmla="val 9565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D5DCFD-8FCE-4EAF-A5D8-86098BB2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76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CEO 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A6CC5F-CFB2-45D2-847B-693B8D8C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90850"/>
            <a:ext cx="152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ADBB"/>
                </a:solidFill>
              </a:defRPr>
            </a:pPr>
            <a:r>
              <a:rPr sz="1200" b="0">
                <a:solidFill>
                  <a:srgbClr val="A7ADBB"/>
                </a:solidFill>
              </a:rPr>
              <a:t>Revenue opportunities. Retention watchlist. Trainer performance. Members needing attention. Growth opportunities.</a:t>
            </a:r>
          </a:p>
        </p:txBody>
      </p:sp>
    </p:spTree>
    <p:extLst>
      <p:ext uri="{BB962C8B-B14F-4D97-AF65-F5344CB8AC3E}">
        <p14:creationId xmlns:p14="http://schemas.microsoft.com/office/powerpoint/2010/main" val="5590369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4EC0A3-A925-43B3-9B3F-A0896C8E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47A80-B396-4F56-A305-3BDABC40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19245-DECB-4575-B1DA-DF5F8D53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AA158E-51AF-405C-997A-E762B9CB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239C04-4C52-48A4-AE33-96FB0F0F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The owner dashboard should drive action, not report trivia.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B08FB-183C-4E74-B91D-82BC7DE6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2428875" cy="51625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E40B5D-A3FD-4C9E-B60A-27725E47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98" y="1114425"/>
            <a:ext cx="71628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d5cfffa234ca7"/>
          <a:stretch xmlns:a="http://schemas.openxmlformats.org/drawingml/2006/main"/>
        </p:blipFill>
        <p:spPr>
          <a:xfrm xmlns:a="http://schemas.openxmlformats.org/drawingml/2006/main">
            <a:off x="781050" y="1484219"/>
            <a:ext cx="2238375" cy="4213412"/>
          </a:xfrm>
          <a:prstGeom xmlns:a="http://schemas.openxmlformats.org/drawingml/2006/main" prst="roundRect">
            <a:avLst>
              <a:gd name="adj" fmla="val 10213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89BE8-215F-418F-9919-F9D4A663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695450"/>
            <a:ext cx="7239000" cy="3829050"/>
          </a:xfrm>
          <a:prstGeom xmlns:a="http://schemas.openxmlformats.org/drawingml/2006/main" prst="roundRect">
            <a:avLst>
              <a:gd name="adj" fmla="val 5473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B71E85-B7D0-4708-B53C-8F75D221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764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8FAFC"/>
                </a:solidFill>
              </a:defRPr>
            </a:pPr>
            <a:r>
              <a:rPr sz="2325" b="1">
                <a:solidFill>
                  <a:srgbClr val="F8FAFC"/>
                </a:solidFill>
              </a:rPr>
              <a:t>Trainer Engagement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1FE779-9228-44AE-AE6B-2B6420F8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81300"/>
            <a:ext cx="2000250" cy="12954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7BC1D9-4831-48DA-AF39-2A197853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00375"/>
            <a:ext cx="154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17A8C"/>
                </a:solidFill>
              </a:defRPr>
            </a:pPr>
            <a:r>
              <a:rPr sz="900" b="1">
                <a:solidFill>
                  <a:srgbClr val="717A8C"/>
                </a:solidFill>
              </a:rPr>
              <a:t>CLIENTS CONTACTED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7BB5E9-A337-491B-B66A-8FC1CAC5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05175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DE6D1"/>
                </a:solidFill>
              </a:defRPr>
            </a:pPr>
            <a:r>
              <a:rPr sz="2400" b="1">
                <a:solidFill>
                  <a:srgbClr val="3DE6D1"/>
                </a:solidFill>
              </a:rPr>
              <a:t>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E475F2-56CC-4DFC-8850-2B230523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95700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7ADBB"/>
                </a:solidFill>
              </a:defRPr>
            </a:pPr>
            <a:r>
              <a:rPr sz="1050" b="0">
                <a:solidFill>
                  <a:srgbClr val="A7ADBB"/>
                </a:solidFill>
              </a:rPr>
              <a:t>This week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C7BC02-D55D-41AC-AEE9-3F4A64FB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81300"/>
            <a:ext cx="2000250" cy="12954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575E73-94A6-435B-82BC-8F243B3F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0375"/>
            <a:ext cx="154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17A8C"/>
                </a:solidFill>
              </a:defRPr>
            </a:pPr>
            <a:r>
              <a:rPr sz="900" b="1">
                <a:solidFill>
                  <a:srgbClr val="717A8C"/>
                </a:solidFill>
              </a:rPr>
              <a:t>WEEKLY REVIEWS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F2D6DE-549F-47D9-A7D2-3AF75486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05175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B5CF6"/>
                </a:solidFill>
              </a:defRPr>
            </a:pPr>
            <a:r>
              <a:rPr sz="2400" b="1">
                <a:solidFill>
                  <a:srgbClr val="8B5CF6"/>
                </a:solidFill>
              </a:rPr>
              <a:t>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1CA369-D416-41F8-B630-FC954B0F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695700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7ADBB"/>
                </a:solidFill>
              </a:defRPr>
            </a:pPr>
            <a:r>
              <a:rPr sz="1050" b="0">
                <a:solidFill>
                  <a:srgbClr val="A7ADBB"/>
                </a:solidFill>
              </a:rPr>
              <a:t>Completed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980C32-3A6E-4CF5-AA9C-B3B24D33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000250" cy="12954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C3B4F5-ADEF-4FA7-B0D7-EAC666D2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000375"/>
            <a:ext cx="154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17A8C"/>
                </a:solidFill>
              </a:defRPr>
            </a:pPr>
            <a:r>
              <a:rPr sz="900" b="1">
                <a:solidFill>
                  <a:srgbClr val="717A8C"/>
                </a:solidFill>
              </a:rPr>
              <a:t>FOLLOW-UPS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9F282F-DEF8-4002-8E5D-402FA9C3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05175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C65B"/>
                </a:solidFill>
              </a:defRPr>
            </a:pPr>
            <a:r>
              <a:rPr sz="2400" b="1">
                <a:solidFill>
                  <a:srgbClr val="F6C65B"/>
                </a:solidFill>
              </a:rPr>
              <a:t>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69D8A3-4E77-4F05-B10E-835B97AC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695700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7ADBB"/>
                </a:solidFill>
              </a:defRPr>
            </a:pPr>
            <a:r>
              <a:rPr sz="1050" b="0">
                <a:solidFill>
                  <a:srgbClr val="A7ADBB"/>
                </a:solidFill>
              </a:rPr>
              <a:t>Outstanding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923A93-219F-4CCB-9A7D-618965FA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95800"/>
            <a:ext cx="600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F8FAFC"/>
                </a:solidFill>
              </a:rPr>
              <a:t>Owners care about whether trainers are creating accountability, not internal system metrics.</a:t>
            </a:r>
          </a:p>
        </p:txBody>
      </p:sp>
    </p:spTree>
    <p:extLst>
      <p:ext uri="{BB962C8B-B14F-4D97-AF65-F5344CB8AC3E}">
        <p14:creationId xmlns:p14="http://schemas.microsoft.com/office/powerpoint/2010/main" val="77690529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42F2CA-210D-491D-93F7-F637ACF4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A636C-66D5-4B17-A66D-079636B7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130E11-4D15-4F80-8E84-A888D918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F70794-C03B-4E85-AD38-DD9B75F2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1850B-B64C-4E4C-BEFA-2929EB5A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A pilot should prove usage, not promise miracles.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F5E53-AC5C-4B3F-8DD2-F9AEB70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2343150" cy="1905000"/>
          </a:xfrm>
          <a:prstGeom xmlns:a="http://schemas.openxmlformats.org/drawingml/2006/main" prst="roundRect">
            <a:avLst>
              <a:gd name="adj" fmla="val 11000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FB611B-659C-4140-852A-E9EC042F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E6D1"/>
                </a:solidFill>
              </a:defRPr>
            </a:pPr>
            <a:r>
              <a:rPr sz="3150" b="1">
                <a:solidFill>
                  <a:srgbClr val="3DE6D1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04BA61-4B26-4536-8171-E5FAD68E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813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8FAFC"/>
                </a:solidFill>
              </a:defRPr>
            </a:pPr>
            <a:r>
              <a:rPr sz="1725" b="1">
                <a:solidFill>
                  <a:srgbClr val="F8FAFC"/>
                </a:solidFill>
              </a:rPr>
              <a:t>1-2 clubs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58D079-76CA-4779-9BC8-569365DE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ADBB"/>
                </a:solidFill>
              </a:defRPr>
            </a:pPr>
            <a:r>
              <a:rPr sz="1200" b="0">
                <a:solidFill>
                  <a:srgbClr val="A7ADBB"/>
                </a:solidFill>
              </a:rPr>
              <a:t>Controlled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E3704E-3703-4BE2-ADFF-AD85510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90750"/>
            <a:ext cx="2343150" cy="1905000"/>
          </a:xfrm>
          <a:prstGeom xmlns:a="http://schemas.openxmlformats.org/drawingml/2006/main" prst="roundRect">
            <a:avLst>
              <a:gd name="adj" fmla="val 11000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4F582B-0FE1-4E9D-9196-D60F31E9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5745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E6D1"/>
                </a:solidFill>
              </a:defRPr>
            </a:pPr>
            <a:r>
              <a:rPr sz="3150" b="1">
                <a:solidFill>
                  <a:srgbClr val="3DE6D1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612A2F-4923-4B05-B886-B7F83DA7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813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8FAFC"/>
                </a:solidFill>
              </a:defRPr>
            </a:pPr>
            <a:r>
              <a:rPr sz="1725" b="1">
                <a:solidFill>
                  <a:srgbClr val="F8FAFC"/>
                </a:solidFill>
              </a:rPr>
              <a:t>Selected trainers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C8F145-5F71-436F-A413-2C59ED66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ADBB"/>
                </a:solidFill>
              </a:defRPr>
            </a:pPr>
            <a:r>
              <a:rPr sz="1200" b="0">
                <a:solidFill>
                  <a:srgbClr val="A7ADBB"/>
                </a:solidFill>
              </a:rPr>
              <a:t>Coaching buy-in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E065B9-B1B3-4DFB-AA06-D20C01C6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90750"/>
            <a:ext cx="2343150" cy="1905000"/>
          </a:xfrm>
          <a:prstGeom xmlns:a="http://schemas.openxmlformats.org/drawingml/2006/main" prst="roundRect">
            <a:avLst>
              <a:gd name="adj" fmla="val 11000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744DC7-B973-4558-954B-AB1ABC48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E6D1"/>
                </a:solidFill>
              </a:defRPr>
            </a:pPr>
            <a:r>
              <a:rPr sz="3150" b="1">
                <a:solidFill>
                  <a:srgbClr val="3DE6D1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598229-840B-4E0D-BAB3-FDB29ED7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813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8FAFC"/>
                </a:solidFill>
              </a:defRPr>
            </a:pPr>
            <a:r>
              <a:rPr sz="1725" b="1">
                <a:solidFill>
                  <a:srgbClr val="F8FAFC"/>
                </a:solidFill>
              </a:rPr>
              <a:t>Selected members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5C4F22-D1EE-4E82-8CD5-B3DCB086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62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ADBB"/>
                </a:solidFill>
              </a:defRPr>
            </a:pPr>
            <a:r>
              <a:rPr sz="1200" b="0">
                <a:solidFill>
                  <a:srgbClr val="A7ADBB"/>
                </a:solidFill>
              </a:rPr>
              <a:t>Real usage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A07BEF-0464-4796-B7DF-EBD1B034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90750"/>
            <a:ext cx="2343150" cy="1905000"/>
          </a:xfrm>
          <a:prstGeom xmlns:a="http://schemas.openxmlformats.org/drawingml/2006/main" prst="roundRect">
            <a:avLst>
              <a:gd name="adj" fmla="val 11000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5C8C37-FC7E-4754-A5AD-66A569BB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5745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E6D1"/>
                </a:solidFill>
              </a:defRPr>
            </a:pPr>
            <a:r>
              <a:rPr sz="3150" b="1">
                <a:solidFill>
                  <a:srgbClr val="3DE6D1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F54F9D-22A0-4B35-A4CD-6E5D7738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813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8FAFC"/>
                </a:solidFill>
              </a:defRPr>
            </a:pPr>
            <a:r>
              <a:rPr sz="1725" b="1">
                <a:solidFill>
                  <a:srgbClr val="F8FAFC"/>
                </a:solidFill>
              </a:rPr>
              <a:t>60-90 days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C5D0EB-EACD-43DA-87F7-1FBD979F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62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ADBB"/>
                </a:solidFill>
              </a:defRPr>
            </a:pPr>
            <a:r>
              <a:rPr sz="1200" b="0">
                <a:solidFill>
                  <a:srgbClr val="A7ADBB"/>
                </a:solidFill>
              </a:rPr>
              <a:t>Enough signal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4758F6-86F0-4870-B38A-8DB7EF70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9144000" cy="723900"/>
          </a:xfrm>
          <a:prstGeom xmlns:a="http://schemas.openxmlformats.org/drawingml/2006/main" prst="roundRect">
            <a:avLst>
              <a:gd name="adj" fmla="val 28947"/>
            </a:avLst>
          </a:prstGeom>
          <a:solidFill xmlns:a="http://schemas.openxmlformats.org/drawingml/2006/main">
            <a:srgbClr val="101722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9D54E6-824C-49B8-8220-EB25FA79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911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8FAFC"/>
                </a:solidFill>
              </a:defRPr>
            </a:pPr>
            <a:r>
              <a:rPr sz="2100" b="1">
                <a:solidFill>
                  <a:srgbClr val="F8FAFC"/>
                </a:solidFill>
              </a:rPr>
              <a:t>Measure usage. Trainer action. Member feedback.</a:t>
            </a:r>
          </a:p>
        </p:txBody>
      </p:sp>
    </p:spTree>
    <p:extLst>
      <p:ext uri="{BB962C8B-B14F-4D97-AF65-F5344CB8AC3E}">
        <p14:creationId xmlns:p14="http://schemas.microsoft.com/office/powerpoint/2010/main" val="2389398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8E97DC-92A8-420A-9BC0-7A31E6A8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48984-1A72-42CB-888F-3FDFB756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D84EE-E0B7-4CBC-ABA0-EFBF4C99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27010-E431-46B9-8CAA-F40067ED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74928-E1C8-4454-A7A1-EDF60B61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933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FAFC"/>
                </a:solidFill>
              </a:defRPr>
            </a:pPr>
            <a:r>
              <a:rPr sz="2850" b="1">
                <a:solidFill>
                  <a:srgbClr val="F8FAFC"/>
                </a:solidFill>
              </a:rPr>
              <a:t>Ascend doesn't replace coaching. It extends coaching.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EF5555-779B-4EF7-9A7E-07F15C03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4762500" cy="2781300"/>
          </a:xfrm>
          <a:prstGeom xmlns:a="http://schemas.openxmlformats.org/drawingml/2006/main" prst="roundRect">
            <a:avLst>
              <a:gd name="adj" fmla="val 7534"/>
            </a:avLst>
          </a:prstGeom>
          <a:solidFill xmlns:a="http://schemas.openxmlformats.org/drawingml/2006/main">
            <a:srgbClr val="0B111B"/>
          </a:solidFill>
          <a:ln xmlns:a="http://schemas.openxmlformats.org/drawingml/2006/main" w="13335">
            <a:solidFill>
              <a:srgbClr val="F6C65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81FEF2-4C5A-4ECB-B4B7-691A9663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526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Trainer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61111D-D3AE-4662-BC3C-BAA00577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47950"/>
            <a:ext cx="152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0" b="1">
                <a:solidFill>
                  <a:srgbClr val="F6C65B"/>
                </a:solidFill>
              </a:defRPr>
            </a:pPr>
            <a:r>
              <a:rPr sz="7500" b="1">
                <a:solidFill>
                  <a:srgbClr val="F6C65B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3E3801-1761-4135-AF0F-27B0856C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908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6C65B"/>
                </a:solidFill>
              </a:defRPr>
            </a:pPr>
            <a:r>
              <a:rPr sz="3450" b="1">
                <a:solidFill>
                  <a:srgbClr val="F6C65B"/>
                </a:solidFill>
              </a:rPr>
              <a:t>hour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08976-A19F-4160-B07F-2123CFE7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909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ADBB"/>
                </a:solidFill>
              </a:defRPr>
            </a:pPr>
            <a:r>
              <a:rPr sz="1800" b="0">
                <a:solidFill>
                  <a:srgbClr val="A7ADBB"/>
                </a:solidFill>
              </a:rPr>
              <a:t>per week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1D757-1588-4AA0-980D-F410EE90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52600"/>
            <a:ext cx="4762500" cy="2781300"/>
          </a:xfrm>
          <a:prstGeom xmlns:a="http://schemas.openxmlformats.org/drawingml/2006/main" prst="roundRect">
            <a:avLst>
              <a:gd name="adj" fmla="val 7534"/>
            </a:avLst>
          </a:prstGeom>
          <a:solidFill xmlns:a="http://schemas.openxmlformats.org/drawingml/2006/main">
            <a:srgbClr val="102018"/>
          </a:solidFill>
          <a:ln xmlns:a="http://schemas.openxmlformats.org/drawingml/2006/main" w="13335">
            <a:solidFill>
              <a:srgbClr val="3DE6D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53005C-B757-4344-AD07-91962C7B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1526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Ascend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FBD69F-2393-4602-A067-7BBD13F9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47950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0" b="1">
                <a:solidFill>
                  <a:srgbClr val="3DE6D1"/>
                </a:solidFill>
              </a:defRPr>
            </a:pPr>
            <a:r>
              <a:rPr sz="7500" b="1">
                <a:solidFill>
                  <a:srgbClr val="3DE6D1"/>
                </a:solidFill>
              </a:rPr>
              <a:t>166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4320AE-7FAA-4C84-BD7C-32656909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99085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3DE6D1"/>
                </a:solidFill>
              </a:defRPr>
            </a:pPr>
            <a:r>
              <a:rPr sz="3450" b="1">
                <a:solidFill>
                  <a:srgbClr val="3DE6D1"/>
                </a:solidFill>
              </a:rPr>
              <a:t>hours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911A41-A160-462D-B964-A791140F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909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ADBB"/>
                </a:solidFill>
              </a:defRPr>
            </a:pPr>
            <a:r>
              <a:rPr sz="1800" b="0">
                <a:solidFill>
                  <a:srgbClr val="A7ADBB"/>
                </a:solidFill>
              </a:rPr>
              <a:t>per week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6D4E82-D6F1-4616-B705-8BEFB8D1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86350"/>
            <a:ext cx="962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Members stay accountable. Trainers stay informed. Owners stay in control.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996270-B683-4E0B-9589-51E96739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769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A7ADBB"/>
                </a:solidFill>
              </a:defRPr>
            </a:pPr>
            <a:r>
              <a:rPr sz="1800" b="0">
                <a:solidFill>
                  <a:srgbClr val="A7ADBB"/>
                </a:solidFill>
              </a:rPr>
              <a:t>The gym session starts results. Consistency finishes them.</a:t>
            </a:r>
          </a:p>
        </p:txBody>
      </p:sp>
    </p:spTree>
    <p:extLst>
      <p:ext uri="{BB962C8B-B14F-4D97-AF65-F5344CB8AC3E}">
        <p14:creationId xmlns:p14="http://schemas.microsoft.com/office/powerpoint/2010/main" val="1050031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6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27B737-60D5-46EF-9543-650A8497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08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91625-AA94-47F0-8A7E-0B53B41C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81650"/>
            <a:ext cx="121920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91620-3874-4A7E-A62F-68B2656B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8E404-6399-4412-9A32-40E0C975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668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724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f2613ac6b44fa0"/>
          <a:stretch xmlns:a="http://schemas.openxmlformats.org/drawingml/2006/main"/>
        </p:blipFill>
        <p:spPr>
          <a:xfrm xmlns:a="http://schemas.openxmlformats.org/drawingml/2006/main">
            <a:off x="666750" y="43815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83DBE-57E0-4626-95A9-C36C7BDF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ASCEND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4FDCC-1EAB-47E2-9EC4-A065C4E3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8FAFC"/>
                </a:solidFill>
              </a:defRPr>
            </a:pPr>
            <a:r>
              <a:rPr sz="4050" b="1">
                <a:solidFill>
                  <a:srgbClr val="F8FAFC"/>
                </a:solidFill>
              </a:rPr>
              <a:t>Let's show the live product.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EB629E-927D-4841-A9B1-53E43232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ADBB"/>
                </a:solidFill>
              </a:defRPr>
            </a:pPr>
            <a:r>
              <a:rPr sz="1800" b="0">
                <a:solidFill>
                  <a:srgbClr val="A7ADBB"/>
                </a:solidFill>
              </a:rPr>
              <a:t>A short walkthrough can show how Ascend supports members, trainers and club operations without replacing the coaching model already inside the gym.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F1E63-EBC0-4AF1-A7EC-1F5CFC98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51F"/>
          </a:solidFill>
          <a:ln xmlns:a="http://schemas.openxmlformats.org/drawingml/2006/main" w="13335">
            <a:solidFill>
              <a:srgbClr val="2733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B52A3C-3801-4561-9AD1-E6813A4A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62425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3DE6D1"/>
                </a:solidFill>
              </a:defRPr>
            </a:pPr>
            <a:r>
              <a:rPr sz="975" b="1">
                <a:solidFill>
                  <a:srgbClr val="3DE6D1"/>
                </a:solidFill>
              </a:rPr>
              <a:t>www.getascend.fit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1BAA3A-EA94-4D41-A611-BAC70BAE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8FAFC"/>
                </a:solidFill>
              </a:defRPr>
            </a:pPr>
            <a:r>
              <a:rPr sz="1950" b="1">
                <a:solidFill>
                  <a:srgbClr val="F8FAFC"/>
                </a:solidFill>
              </a:rPr>
              <a:t>Fariz Anwar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971428-6E5C-431F-85B9-3F9C451B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ADBB"/>
                </a:solidFill>
              </a:defRPr>
            </a:pPr>
            <a:r>
              <a:rPr sz="1275" b="0">
                <a:solidFill>
                  <a:srgbClr val="A7ADBB"/>
                </a:solidFill>
              </a:rPr>
              <a:t>Founder / Ascend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B8987-4CD8-439D-AAF3-F2FC0CDA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876300"/>
            <a:ext cx="1943100" cy="4991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366034-6F0B-4801-95D1-AC6AF7BF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734" y="981075"/>
            <a:ext cx="560832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c8a7e8d4af4116"/>
          <a:stretch xmlns:a="http://schemas.openxmlformats.org/drawingml/2006/main"/>
        </p:blipFill>
        <p:spPr>
          <a:xfrm xmlns:a="http://schemas.openxmlformats.org/drawingml/2006/main">
            <a:off x="7562850" y="1542056"/>
            <a:ext cx="1752600" cy="3659589"/>
          </a:xfrm>
          <a:prstGeom xmlns:a="http://schemas.openxmlformats.org/drawingml/2006/main" prst="roundRect">
            <a:avLst>
              <a:gd name="adj" fmla="val 13043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B469C4-2AEA-4F10-9E6F-2A49EA7E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066800"/>
            <a:ext cx="1809750" cy="4610100"/>
          </a:xfrm>
          <a:prstGeom xmlns:a="http://schemas.openxmlformats.org/drawingml/2006/main" prst="roundRect">
            <a:avLst>
              <a:gd name="adj" fmla="val 17895"/>
            </a:avLst>
          </a:prstGeom>
          <a:solidFill xmlns:a="http://schemas.openxmlformats.org/drawingml/2006/main">
            <a:srgbClr val="05070C"/>
          </a:solidFill>
          <a:ln xmlns:a="http://schemas.openxmlformats.org/drawingml/2006/main" w="19050">
            <a:solidFill>
              <a:srgbClr val="30394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EA6F57-F3A6-4772-8AAB-A03477EA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0295" y="1171575"/>
            <a:ext cx="51816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283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090339f3b41f0"/>
          <a:stretch xmlns:a="http://schemas.openxmlformats.org/drawingml/2006/main"/>
        </p:blipFill>
        <p:spPr>
          <a:xfrm xmlns:a="http://schemas.openxmlformats.org/drawingml/2006/main">
            <a:off x="9429750" y="1861179"/>
            <a:ext cx="1619250" cy="3021341"/>
          </a:xfrm>
          <a:prstGeom xmlns:a="http://schemas.openxmlformats.org/drawingml/2006/main" prst="roundRect">
            <a:avLst>
              <a:gd name="adj" fmla="val 14118"/>
            </a:avLst>
          </a:prstGeom>
        </p:spPr>
      </p:pic>
    </p:spTree>
    <p:extLst>
      <p:ext uri="{BB962C8B-B14F-4D97-AF65-F5344CB8AC3E}">
        <p14:creationId xmlns:p14="http://schemas.microsoft.com/office/powerpoint/2010/main" val="20847155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2026-07-03T00:05:24.5650000Z</dcterms:created>
  <dcterms:modified xsi:type="dcterms:W3CDTF">2026-07-03T00:05:24.5650000Z</dcterms:modified>
</coreProperties>
</file>